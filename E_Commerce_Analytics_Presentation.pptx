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2" r:id="rId10"/>
    <p:sldId id="268" r:id="rId11"/>
    <p:sldId id="269" r:id="rId12"/>
    <p:sldId id="270" r:id="rId13"/>
    <p:sldId id="263" r:id="rId14"/>
    <p:sldId id="265" r:id="rId15"/>
  </p:sldIdLst>
  <p:sldSz cx="18288000" cy="10287000"/>
  <p:notesSz cx="6858000" cy="9144000"/>
  <p:embeddedFontLst>
    <p:embeddedFont>
      <p:font typeface="DM Sans" pitchFamily="2" charset="0"/>
      <p:regular r:id="rId16"/>
    </p:embeddedFont>
    <p:embeddedFont>
      <p:font typeface="DM Sans Bold" panose="020B0604020202020204" charset="0"/>
      <p:regular r:id="rId17"/>
    </p:embeddedFont>
    <p:embeddedFont>
      <p:font typeface="DM Sans Bold Italics" panose="020B0604020202020204" charset="0"/>
      <p:regular r:id="rId18"/>
    </p:embeddedFont>
    <p:embeddedFont>
      <p:font typeface="DM Sans Italics" panose="020B0604020202020204" charset="0"/>
      <p:regular r:id="rId19"/>
    </p:embeddedFont>
    <p:embeddedFont>
      <p:font typeface="TT Hoves" panose="020B0604020202020204" charset="0"/>
      <p:regular r:id="rId20"/>
    </p:embeddedFont>
    <p:embeddedFont>
      <p:font typeface="TT Hove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47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3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5" name="Freeform 4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6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AutoShape 7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10" name="Freeform 9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13" name="Freeform 12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180977" y="5704714"/>
            <a:ext cx="7126109" cy="902651"/>
            <a:chOff x="0" y="0"/>
            <a:chExt cx="1876835" cy="237735"/>
          </a:xfrm>
        </p:grpSpPr>
        <p:sp>
          <p:nvSpPr>
            <p:cNvPr id="16" name="Freeform 15"/>
            <p:cNvSpPr/>
            <p:nvPr/>
          </p:nvSpPr>
          <p:spPr>
            <a:xfrm>
              <a:off x="0" y="0"/>
              <a:ext cx="1876835" cy="237735"/>
            </a:xfrm>
            <a:custGeom>
              <a:avLst/>
              <a:gdLst/>
              <a:ahLst/>
              <a:cxnLst/>
              <a:rect l="l" t="t" r="r" b="b"/>
              <a:pathLst>
                <a:path w="1876835" h="237735">
                  <a:moveTo>
                    <a:pt x="108642" y="0"/>
                  </a:moveTo>
                  <a:lnTo>
                    <a:pt x="1768194" y="0"/>
                  </a:lnTo>
                  <a:cubicBezTo>
                    <a:pt x="1797007" y="0"/>
                    <a:pt x="1824641" y="11446"/>
                    <a:pt x="1845015" y="31820"/>
                  </a:cubicBezTo>
                  <a:cubicBezTo>
                    <a:pt x="1865389" y="52195"/>
                    <a:pt x="1876835" y="79828"/>
                    <a:pt x="1876835" y="108642"/>
                  </a:cubicBezTo>
                  <a:lnTo>
                    <a:pt x="1876835" y="129094"/>
                  </a:lnTo>
                  <a:cubicBezTo>
                    <a:pt x="1876835" y="189095"/>
                    <a:pt x="1828195" y="237735"/>
                    <a:pt x="1768194" y="237735"/>
                  </a:cubicBezTo>
                  <a:lnTo>
                    <a:pt x="108642" y="237735"/>
                  </a:lnTo>
                  <a:cubicBezTo>
                    <a:pt x="48641" y="237735"/>
                    <a:pt x="0" y="189095"/>
                    <a:pt x="0" y="129094"/>
                  </a:cubicBezTo>
                  <a:lnTo>
                    <a:pt x="0" y="108642"/>
                  </a:lnTo>
                  <a:cubicBezTo>
                    <a:pt x="0" y="48641"/>
                    <a:pt x="48641" y="0"/>
                    <a:pt x="10864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0" y="-38100"/>
              <a:ext cx="1876835" cy="275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7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AutoShape 1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AutoShape 1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3" name="Group 22"/>
          <p:cNvGrpSpPr/>
          <p:nvPr/>
        </p:nvGrpSpPr>
        <p:grpSpPr>
          <a:xfrm>
            <a:off x="12128435" y="7757364"/>
            <a:ext cx="4002069" cy="591470"/>
            <a:chOff x="0" y="0"/>
            <a:chExt cx="1054043" cy="155778"/>
          </a:xfrm>
        </p:grpSpPr>
        <p:sp>
          <p:nvSpPr>
            <p:cNvPr id="24" name="Freeform 23"/>
            <p:cNvSpPr/>
            <p:nvPr/>
          </p:nvSpPr>
          <p:spPr>
            <a:xfrm>
              <a:off x="0" y="0"/>
              <a:ext cx="1054043" cy="155778"/>
            </a:xfrm>
            <a:custGeom>
              <a:avLst/>
              <a:gdLst/>
              <a:ahLst/>
              <a:cxnLst/>
              <a:rect l="l" t="t" r="r" b="b"/>
              <a:pathLst>
                <a:path w="1054043" h="155778">
                  <a:moveTo>
                    <a:pt x="77889" y="0"/>
                  </a:moveTo>
                  <a:lnTo>
                    <a:pt x="976154" y="0"/>
                  </a:lnTo>
                  <a:cubicBezTo>
                    <a:pt x="996811" y="0"/>
                    <a:pt x="1016623" y="8206"/>
                    <a:pt x="1031230" y="22813"/>
                  </a:cubicBezTo>
                  <a:cubicBezTo>
                    <a:pt x="1045837" y="37420"/>
                    <a:pt x="1054043" y="57232"/>
                    <a:pt x="1054043" y="77889"/>
                  </a:cubicBezTo>
                  <a:lnTo>
                    <a:pt x="1054043" y="77889"/>
                  </a:lnTo>
                  <a:cubicBezTo>
                    <a:pt x="1054043" y="98546"/>
                    <a:pt x="1045837" y="118358"/>
                    <a:pt x="1031230" y="132965"/>
                  </a:cubicBezTo>
                  <a:cubicBezTo>
                    <a:pt x="1016623" y="147572"/>
                    <a:pt x="996811" y="155778"/>
                    <a:pt x="976154" y="155778"/>
                  </a:cubicBezTo>
                  <a:lnTo>
                    <a:pt x="77889" y="155778"/>
                  </a:lnTo>
                  <a:cubicBezTo>
                    <a:pt x="57232" y="155778"/>
                    <a:pt x="37420" y="147572"/>
                    <a:pt x="22813" y="132965"/>
                  </a:cubicBezTo>
                  <a:cubicBezTo>
                    <a:pt x="8206" y="118358"/>
                    <a:pt x="0" y="98546"/>
                    <a:pt x="0" y="77889"/>
                  </a:cubicBezTo>
                  <a:lnTo>
                    <a:pt x="0" y="77889"/>
                  </a:lnTo>
                  <a:cubicBezTo>
                    <a:pt x="0" y="57232"/>
                    <a:pt x="8206" y="37420"/>
                    <a:pt x="22813" y="22813"/>
                  </a:cubicBezTo>
                  <a:cubicBezTo>
                    <a:pt x="37420" y="8206"/>
                    <a:pt x="57232" y="0"/>
                    <a:pt x="778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0" y="-38100"/>
              <a:ext cx="1054043" cy="193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4667407" y="7757364"/>
            <a:ext cx="1463097" cy="591470"/>
            <a:chOff x="0" y="0"/>
            <a:chExt cx="385342" cy="155778"/>
          </a:xfrm>
        </p:grpSpPr>
        <p:sp>
          <p:nvSpPr>
            <p:cNvPr id="27" name="Freeform 26"/>
            <p:cNvSpPr/>
            <p:nvPr/>
          </p:nvSpPr>
          <p:spPr>
            <a:xfrm>
              <a:off x="0" y="0"/>
              <a:ext cx="385342" cy="155778"/>
            </a:xfrm>
            <a:custGeom>
              <a:avLst/>
              <a:gdLst/>
              <a:ahLst/>
              <a:cxnLst/>
              <a:rect l="l" t="t" r="r" b="b"/>
              <a:pathLst>
                <a:path w="385342" h="155778">
                  <a:moveTo>
                    <a:pt x="77889" y="0"/>
                  </a:moveTo>
                  <a:lnTo>
                    <a:pt x="307453" y="0"/>
                  </a:lnTo>
                  <a:cubicBezTo>
                    <a:pt x="328111" y="0"/>
                    <a:pt x="347922" y="8206"/>
                    <a:pt x="362529" y="22813"/>
                  </a:cubicBezTo>
                  <a:cubicBezTo>
                    <a:pt x="377136" y="37420"/>
                    <a:pt x="385342" y="57232"/>
                    <a:pt x="385342" y="77889"/>
                  </a:cubicBezTo>
                  <a:lnTo>
                    <a:pt x="385342" y="77889"/>
                  </a:lnTo>
                  <a:cubicBezTo>
                    <a:pt x="385342" y="98546"/>
                    <a:pt x="377136" y="118358"/>
                    <a:pt x="362529" y="132965"/>
                  </a:cubicBezTo>
                  <a:cubicBezTo>
                    <a:pt x="347922" y="147572"/>
                    <a:pt x="328111" y="155778"/>
                    <a:pt x="307453" y="155778"/>
                  </a:cubicBezTo>
                  <a:lnTo>
                    <a:pt x="77889" y="155778"/>
                  </a:lnTo>
                  <a:cubicBezTo>
                    <a:pt x="57232" y="155778"/>
                    <a:pt x="37420" y="147572"/>
                    <a:pt x="22813" y="132965"/>
                  </a:cubicBezTo>
                  <a:cubicBezTo>
                    <a:pt x="8206" y="118358"/>
                    <a:pt x="0" y="98546"/>
                    <a:pt x="0" y="77889"/>
                  </a:cubicBezTo>
                  <a:lnTo>
                    <a:pt x="0" y="77889"/>
                  </a:lnTo>
                  <a:cubicBezTo>
                    <a:pt x="0" y="57232"/>
                    <a:pt x="8206" y="37420"/>
                    <a:pt x="22813" y="22813"/>
                  </a:cubicBezTo>
                  <a:cubicBezTo>
                    <a:pt x="37420" y="8206"/>
                    <a:pt x="57232" y="0"/>
                    <a:pt x="7788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0" y="-38100"/>
              <a:ext cx="385342" cy="193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AutoShape 28"/>
          <p:cNvSpPr/>
          <p:nvPr/>
        </p:nvSpPr>
        <p:spPr>
          <a:xfrm>
            <a:off x="15167628" y="8053099"/>
            <a:ext cx="573192" cy="0"/>
          </a:xfrm>
          <a:prstGeom prst="line">
            <a:avLst/>
          </a:prstGeom>
          <a:ln w="5715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79250" y="5959130"/>
            <a:ext cx="6678323" cy="50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7"/>
              </a:lnSpc>
            </a:pPr>
            <a:r>
              <a:rPr lang="en-US" sz="4086" spc="-163">
                <a:solidFill>
                  <a:srgbClr val="F8F7F0"/>
                </a:solidFill>
                <a:latin typeface="TT Hoves"/>
                <a:ea typeface="TT Hoves"/>
                <a:cs typeface="TT Hoves"/>
                <a:sym typeface="TT Hoves"/>
              </a:rPr>
              <a:t>DAV Mini Project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7619793" y="6008782"/>
            <a:ext cx="294514" cy="294514"/>
            <a:chOff x="0" y="0"/>
            <a:chExt cx="812800" cy="812800"/>
          </a:xfrm>
        </p:grpSpPr>
        <p:sp>
          <p:nvSpPr>
            <p:cNvPr id="32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7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149761" y="6008782"/>
            <a:ext cx="294514" cy="294514"/>
            <a:chOff x="0" y="0"/>
            <a:chExt cx="812800" cy="812800"/>
          </a:xfrm>
        </p:grpSpPr>
        <p:sp>
          <p:nvSpPr>
            <p:cNvPr id="35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80977" y="2299560"/>
            <a:ext cx="10309615" cy="175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11800" spc="-566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E-Commerce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0977" y="3632200"/>
            <a:ext cx="10309615" cy="1749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11800" b="1" spc="-566" dirty="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48130" y="7907747"/>
            <a:ext cx="2105840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1" i="1" spc="-129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0977" y="9277350"/>
            <a:ext cx="9144000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900" b="1" spc="-129">
                <a:solidFill>
                  <a:srgbClr val="222B52"/>
                </a:solidFill>
                <a:latin typeface="DM Sans Bold"/>
                <a:ea typeface="DM Sans Bold"/>
                <a:cs typeface="DM Sans Bold"/>
                <a:sym typeface="DM Sans Bold"/>
              </a:rPr>
              <a:t>Soham Admane  |  Vaishnav Balpande  |  Lokesh Parate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0976" y="6978839"/>
            <a:ext cx="7316509" cy="1145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4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Sales and customer </a:t>
            </a:r>
            <a:r>
              <a:rPr lang="en-US" sz="2400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behaviour</a:t>
            </a:r>
            <a:r>
              <a:rPr lang="en-US" sz="24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analytics on 1 million+ online retail transactions (2009–2011): revenue, categories, locations, delivery, reviews and purchasing trends.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58BDDCE-D425-26EC-BB14-E87FC05B6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2792" y="2129570"/>
            <a:ext cx="6026543" cy="5390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0577" y="2032000"/>
            <a:ext cx="6884963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9000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3900" y="3276600"/>
            <a:ext cx="7112000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7400" b="1" spc="-42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22" name="Freeform 21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174734" y="2385285"/>
            <a:ext cx="4154861" cy="2972492"/>
            <a:chOff x="0" y="0"/>
            <a:chExt cx="1094285" cy="782879"/>
          </a:xfrm>
        </p:grpSpPr>
        <p:sp>
          <p:nvSpPr>
            <p:cNvPr id="25" name="Freeform 24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74734" y="5662577"/>
            <a:ext cx="4154861" cy="2972492"/>
            <a:chOff x="0" y="0"/>
            <a:chExt cx="1094285" cy="782879"/>
          </a:xfrm>
        </p:grpSpPr>
        <p:sp>
          <p:nvSpPr>
            <p:cNvPr id="28" name="Freeform 27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C6CDD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591784" y="2385285"/>
            <a:ext cx="4154861" cy="2972492"/>
            <a:chOff x="0" y="0"/>
            <a:chExt cx="1094285" cy="782879"/>
          </a:xfrm>
        </p:grpSpPr>
        <p:sp>
          <p:nvSpPr>
            <p:cNvPr id="31" name="Freeform 30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C6CDD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591784" y="5676900"/>
            <a:ext cx="4154861" cy="2972492"/>
            <a:chOff x="0" y="0"/>
            <a:chExt cx="1094285" cy="782879"/>
          </a:xfrm>
        </p:grpSpPr>
        <p:sp>
          <p:nvSpPr>
            <p:cNvPr id="34" name="Freeform 33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37" name="Freeform 36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0880577" y="4699000"/>
            <a:ext cx="6096000" cy="3080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  <a:spcAft>
                <a:spcPts val="10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This mini-project applies the Data Analysis &amp; Visualization (DAV) lab syllabus to a large, real-world retail dataset instead of small textbook examples.</a:t>
            </a:r>
          </a:p>
          <a:p>
            <a:pPr algn="l">
              <a:lnSpc>
                <a:spcPts val="2176"/>
              </a:lnSpc>
              <a:spcAft>
                <a:spcPts val="10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It answers one central question: what drives revenue and customer satisfaction in an online store, and what should the business do about it?</a:t>
            </a:r>
          </a:p>
          <a:p>
            <a:pPr algn="l">
              <a:lnSpc>
                <a:spcPts val="2176"/>
              </a:lnSpc>
              <a:spcAft>
                <a:spcPts val="10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The work is split into a data pipeline, an analysis notebook and an interactive dashboard, so every result can be reproduced and explored by non-technical users.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8320" y="3399798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UCI Online Retail II: 1,067,371 invoice lines from a UK online gift retailer (Dec 2009 – Dec 2011) with product, price, date, customer and country.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8320" y="6677090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We clean and enrich the data with Pandas and NumPy, then </a:t>
            </a:r>
            <a:r>
              <a:rPr lang="en-US" sz="2000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analyse</a:t>
            </a: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it with DAV Practicals 1–8: grouping, plotting, time series and regression.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75370" y="3399798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6"/>
              </a:lnSpc>
              <a:spcBef>
                <a:spcPct val="0"/>
              </a:spcBef>
            </a:pPr>
            <a:r>
              <a:rPr lang="en-US" sz="2000" u="none" strike="noStrike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E-commerce stores generate huge transaction logs every day. Turning them into insight drives pricing, stock, delivery and marketing decisions.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75370" y="6677090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2000" spc="-4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dashboard with 5 filters, 6 KPI cards and 7 analytics tabs, plus RFM customer segments and ARIMA revenue forecasts.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58320" y="2890236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Dataset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58320" y="6167528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Approach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75370" y="2890236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  <a:spcBef>
                <a:spcPct val="0"/>
              </a:spcBef>
            </a:pPr>
            <a:r>
              <a:rPr lang="en-US" sz="2507" b="1" u="none" strike="noStrike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Domain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975370" y="6167528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Outcome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215803" y="2848948"/>
            <a:ext cx="294514" cy="294514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215803" y="6134716"/>
            <a:ext cx="294514" cy="294514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71155" y="6134716"/>
            <a:ext cx="294514" cy="294514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771155" y="2848948"/>
            <a:ext cx="294514" cy="294514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0" name="Freeform 61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1" name="AutoShape 60"/>
          <p:cNvSpPr/>
          <p:nvPr/>
        </p:nvSpPr>
        <p:spPr>
          <a:xfrm>
            <a:off x="5279390" y="1003300"/>
            <a:ext cx="833119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12" name="Freeform 11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15" name="Freeform 14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4000" y="5365356"/>
            <a:ext cx="7136838" cy="3457149"/>
            <a:chOff x="0" y="0"/>
            <a:chExt cx="1879661" cy="9105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79661" cy="910525"/>
            </a:xfrm>
            <a:custGeom>
              <a:avLst/>
              <a:gdLst/>
              <a:ahLst/>
              <a:cxnLst/>
              <a:rect l="l" t="t" r="r" b="b"/>
              <a:pathLst>
                <a:path w="1879661" h="910525">
                  <a:moveTo>
                    <a:pt x="34713" y="0"/>
                  </a:moveTo>
                  <a:lnTo>
                    <a:pt x="1844948" y="0"/>
                  </a:lnTo>
                  <a:cubicBezTo>
                    <a:pt x="1854154" y="0"/>
                    <a:pt x="1862984" y="3657"/>
                    <a:pt x="1869494" y="10167"/>
                  </a:cubicBezTo>
                  <a:cubicBezTo>
                    <a:pt x="1876004" y="16677"/>
                    <a:pt x="1879661" y="25507"/>
                    <a:pt x="1879661" y="34713"/>
                  </a:cubicBezTo>
                  <a:lnTo>
                    <a:pt x="1879661" y="875812"/>
                  </a:lnTo>
                  <a:cubicBezTo>
                    <a:pt x="1879661" y="894983"/>
                    <a:pt x="1864120" y="910525"/>
                    <a:pt x="1844948" y="910525"/>
                  </a:cubicBezTo>
                  <a:lnTo>
                    <a:pt x="34713" y="910525"/>
                  </a:lnTo>
                  <a:cubicBezTo>
                    <a:pt x="25507" y="910525"/>
                    <a:pt x="16677" y="906868"/>
                    <a:pt x="10167" y="900358"/>
                  </a:cubicBezTo>
                  <a:cubicBezTo>
                    <a:pt x="3657" y="893848"/>
                    <a:pt x="0" y="885018"/>
                    <a:pt x="0" y="875812"/>
                  </a:cubicBezTo>
                  <a:lnTo>
                    <a:pt x="0" y="34713"/>
                  </a:lnTo>
                  <a:cubicBezTo>
                    <a:pt x="0" y="25507"/>
                    <a:pt x="3657" y="16677"/>
                    <a:pt x="10167" y="10167"/>
                  </a:cubicBezTo>
                  <a:cubicBezTo>
                    <a:pt x="16677" y="3657"/>
                    <a:pt x="25507" y="0"/>
                    <a:pt x="34713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79661" cy="94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2"/>
          <p:cNvGrpSpPr/>
          <p:nvPr/>
        </p:nvGrpSpPr>
        <p:grpSpPr>
          <a:xfrm>
            <a:off x="8846613" y="5784697"/>
            <a:ext cx="6787383" cy="3037809"/>
            <a:chOff x="0" y="0"/>
            <a:chExt cx="1787623" cy="800081"/>
          </a:xfrm>
        </p:grpSpPr>
        <p:sp>
          <p:nvSpPr>
            <p:cNvPr id="21" name="Freeform 23"/>
            <p:cNvSpPr/>
            <p:nvPr/>
          </p:nvSpPr>
          <p:spPr>
            <a:xfrm>
              <a:off x="0" y="0"/>
              <a:ext cx="1787623" cy="800081"/>
            </a:xfrm>
            <a:custGeom>
              <a:avLst/>
              <a:gdLst/>
              <a:ahLst/>
              <a:cxnLst/>
              <a:rect l="l" t="t" r="r" b="b"/>
              <a:pathLst>
                <a:path w="1787623" h="800081">
                  <a:moveTo>
                    <a:pt x="36500" y="0"/>
                  </a:moveTo>
                  <a:lnTo>
                    <a:pt x="1751123" y="0"/>
                  </a:lnTo>
                  <a:cubicBezTo>
                    <a:pt x="1771282" y="0"/>
                    <a:pt x="1787623" y="16342"/>
                    <a:pt x="1787623" y="36500"/>
                  </a:cubicBezTo>
                  <a:lnTo>
                    <a:pt x="1787623" y="763581"/>
                  </a:lnTo>
                  <a:cubicBezTo>
                    <a:pt x="1787623" y="783740"/>
                    <a:pt x="1771282" y="800081"/>
                    <a:pt x="1751123" y="800081"/>
                  </a:cubicBezTo>
                  <a:lnTo>
                    <a:pt x="36500" y="800081"/>
                  </a:lnTo>
                  <a:cubicBezTo>
                    <a:pt x="16342" y="800081"/>
                    <a:pt x="0" y="783740"/>
                    <a:pt x="0" y="763581"/>
                  </a:cubicBezTo>
                  <a:lnTo>
                    <a:pt x="0" y="36500"/>
                  </a:lnTo>
                  <a:cubicBezTo>
                    <a:pt x="0" y="16342"/>
                    <a:pt x="16342" y="0"/>
                    <a:pt x="3650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4"/>
            <p:cNvSpPr txBox="1"/>
            <p:nvPr/>
          </p:nvSpPr>
          <p:spPr>
            <a:xfrm>
              <a:off x="0" y="-38100"/>
              <a:ext cx="1787623" cy="83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5"/>
          <p:cNvGrpSpPr/>
          <p:nvPr/>
        </p:nvGrpSpPr>
        <p:grpSpPr>
          <a:xfrm>
            <a:off x="7633513" y="5803527"/>
            <a:ext cx="294514" cy="294514"/>
            <a:chOff x="0" y="0"/>
            <a:chExt cx="812800" cy="812800"/>
          </a:xfrm>
        </p:grpSpPr>
        <p:sp>
          <p:nvSpPr>
            <p:cNvPr id="24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8"/>
          <p:cNvSpPr txBox="1"/>
          <p:nvPr/>
        </p:nvSpPr>
        <p:spPr>
          <a:xfrm>
            <a:off x="1224000" y="2170806"/>
            <a:ext cx="6884963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45"/>
              </a:lnSpc>
            </a:pPr>
            <a:r>
              <a:rPr lang="en-US" sz="10717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Problem</a:t>
            </a:r>
          </a:p>
        </p:txBody>
      </p:sp>
      <p:sp>
        <p:nvSpPr>
          <p:cNvPr id="27" name="TextBox 29"/>
          <p:cNvSpPr txBox="1"/>
          <p:nvPr/>
        </p:nvSpPr>
        <p:spPr>
          <a:xfrm>
            <a:off x="1908796" y="3480650"/>
            <a:ext cx="8128000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45"/>
              </a:lnSpc>
            </a:pPr>
            <a:r>
              <a:rPr lang="en-US" sz="10717" b="1" spc="-42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Statement</a:t>
            </a:r>
          </a:p>
        </p:txBody>
      </p:sp>
      <p:sp>
        <p:nvSpPr>
          <p:cNvPr id="28" name="TextBox 30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29" name="TextBox 31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30" name="TextBox 32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31" name="TextBox 33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32" name="TextBox 34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33" name="TextBox 35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34" name="TextBox 36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35" name="TextBox 37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36" name="TextBox 38"/>
          <p:cNvSpPr txBox="1"/>
          <p:nvPr/>
        </p:nvSpPr>
        <p:spPr>
          <a:xfrm>
            <a:off x="1659293" y="6324600"/>
            <a:ext cx="5969000" cy="84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Online retailers record millions of invoice lines, but raw transactions alone do not show which products, regions, periods or customers actually drive revenue.</a:t>
            </a:r>
          </a:p>
        </p:txBody>
      </p:sp>
      <p:sp>
        <p:nvSpPr>
          <p:cNvPr id="37" name="TextBox 39"/>
          <p:cNvSpPr txBox="1"/>
          <p:nvPr/>
        </p:nvSpPr>
        <p:spPr>
          <a:xfrm>
            <a:off x="9560020" y="7342509"/>
            <a:ext cx="5175996" cy="113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Analyze revenue, product categories, customer locations, delivery times, reviews and purchasing trends using Python, Pandas, </a:t>
            </a:r>
            <a:r>
              <a:rPr lang="en-US" sz="2000" spc="-4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Plotly</a:t>
            </a: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2000" spc="-4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38" name="TextBox 40"/>
          <p:cNvSpPr txBox="1"/>
          <p:nvPr/>
        </p:nvSpPr>
        <p:spPr>
          <a:xfrm>
            <a:off x="9560020" y="6041100"/>
            <a:ext cx="3246396" cy="105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4399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Revenue</a:t>
            </a:r>
          </a:p>
          <a:p>
            <a:pPr marL="474978" lvl="1" indent="-237489" algn="l">
              <a:lnSpc>
                <a:spcPts val="4399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Locations</a:t>
            </a:r>
          </a:p>
        </p:txBody>
      </p:sp>
      <p:sp>
        <p:nvSpPr>
          <p:cNvPr id="39" name="TextBox 41"/>
          <p:cNvSpPr txBox="1"/>
          <p:nvPr/>
        </p:nvSpPr>
        <p:spPr>
          <a:xfrm>
            <a:off x="11977852" y="6041100"/>
            <a:ext cx="3246396" cy="105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4399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Categories</a:t>
            </a:r>
          </a:p>
          <a:p>
            <a:pPr marL="474978" lvl="1" indent="-237489" algn="l">
              <a:lnSpc>
                <a:spcPts val="4399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Delivery &amp; Reviews</a:t>
            </a:r>
          </a:p>
        </p:txBody>
      </p:sp>
      <p:sp>
        <p:nvSpPr>
          <p:cNvPr id="40" name="TextBox 42"/>
          <p:cNvSpPr txBox="1"/>
          <p:nvPr/>
        </p:nvSpPr>
        <p:spPr>
          <a:xfrm>
            <a:off x="1659293" y="7518400"/>
            <a:ext cx="5969000" cy="84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Without analysis, late deliveries, poor reviews, seasonal swings and at-risk customers go unnoticed until sales have already dropped.</a:t>
            </a:r>
          </a:p>
        </p:txBody>
      </p:sp>
      <p:sp>
        <p:nvSpPr>
          <p:cNvPr id="41" name="TextBox 43"/>
          <p:cNvSpPr txBox="1"/>
          <p:nvPr/>
        </p:nvSpPr>
        <p:spPr>
          <a:xfrm>
            <a:off x="1659293" y="5860897"/>
            <a:ext cx="4697865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The Challenge</a:t>
            </a:r>
          </a:p>
        </p:txBody>
      </p:sp>
      <p:sp>
        <p:nvSpPr>
          <p:cNvPr id="42" name="Freeform 44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3" name="AutoShape 60"/>
          <p:cNvSpPr/>
          <p:nvPr/>
        </p:nvSpPr>
        <p:spPr>
          <a:xfrm>
            <a:off x="5279390" y="1003300"/>
            <a:ext cx="833119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Box 44"/>
          <p:cNvSpPr txBox="1"/>
          <p:nvPr/>
        </p:nvSpPr>
        <p:spPr>
          <a:xfrm>
            <a:off x="10731500" y="1905000"/>
            <a:ext cx="6604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600" b="1" spc="-10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Questions We Answer</a:t>
            </a:r>
          </a:p>
        </p:txBody>
      </p:sp>
      <p:sp>
        <p:nvSpPr>
          <p:cNvPr id="45" name="TextBox 39"/>
          <p:cNvSpPr txBox="1"/>
          <p:nvPr/>
        </p:nvSpPr>
        <p:spPr>
          <a:xfrm>
            <a:off x="10731500" y="2489200"/>
            <a:ext cx="6604000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Which months, days and hours generate the most revenue?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Which product categories and items sell best?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Which countries buy the most outside the UK?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How does delivery time affect customer ratings?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Which customers are loyal, and which are at risk of leaving?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Can we forecast the next two weeks of sales?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-1799103" y="9186939"/>
            <a:ext cx="5316075" cy="1969184"/>
            <a:chOff x="0" y="0"/>
            <a:chExt cx="1400119" cy="518633"/>
          </a:xfrm>
        </p:grpSpPr>
        <p:sp>
          <p:nvSpPr>
            <p:cNvPr id="12" name="Freeform 11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-4806286" y="9758439"/>
            <a:ext cx="17800010" cy="2065376"/>
            <a:chOff x="0" y="0"/>
            <a:chExt cx="4688069" cy="543967"/>
          </a:xfrm>
        </p:grpSpPr>
        <p:sp>
          <p:nvSpPr>
            <p:cNvPr id="15" name="Freeform 14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4000" y="2047553"/>
            <a:ext cx="6690306" cy="2755829"/>
            <a:chOff x="0" y="0"/>
            <a:chExt cx="1762056" cy="7258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62056" cy="725815"/>
            </a:xfrm>
            <a:custGeom>
              <a:avLst/>
              <a:gdLst/>
              <a:ahLst/>
              <a:cxnLst/>
              <a:rect l="l" t="t" r="r" b="b"/>
              <a:pathLst>
                <a:path w="1762056" h="725815">
                  <a:moveTo>
                    <a:pt x="37030" y="0"/>
                  </a:moveTo>
                  <a:lnTo>
                    <a:pt x="1725026" y="0"/>
                  </a:lnTo>
                  <a:cubicBezTo>
                    <a:pt x="1734847" y="0"/>
                    <a:pt x="1744266" y="3901"/>
                    <a:pt x="1751210" y="10846"/>
                  </a:cubicBezTo>
                  <a:cubicBezTo>
                    <a:pt x="1758155" y="17790"/>
                    <a:pt x="1762056" y="27209"/>
                    <a:pt x="1762056" y="37030"/>
                  </a:cubicBezTo>
                  <a:lnTo>
                    <a:pt x="1762056" y="688785"/>
                  </a:lnTo>
                  <a:cubicBezTo>
                    <a:pt x="1762056" y="698606"/>
                    <a:pt x="1758155" y="708025"/>
                    <a:pt x="1751210" y="714969"/>
                  </a:cubicBezTo>
                  <a:cubicBezTo>
                    <a:pt x="1744266" y="721914"/>
                    <a:pt x="1734847" y="725815"/>
                    <a:pt x="1725026" y="725815"/>
                  </a:cubicBezTo>
                  <a:lnTo>
                    <a:pt x="37030" y="725815"/>
                  </a:lnTo>
                  <a:cubicBezTo>
                    <a:pt x="27209" y="725815"/>
                    <a:pt x="17790" y="721914"/>
                    <a:pt x="10846" y="714969"/>
                  </a:cubicBezTo>
                  <a:cubicBezTo>
                    <a:pt x="3901" y="708025"/>
                    <a:pt x="0" y="698606"/>
                    <a:pt x="0" y="688785"/>
                  </a:cubicBezTo>
                  <a:lnTo>
                    <a:pt x="0" y="37030"/>
                  </a:lnTo>
                  <a:cubicBezTo>
                    <a:pt x="0" y="27209"/>
                    <a:pt x="3901" y="17790"/>
                    <a:pt x="10846" y="10846"/>
                  </a:cubicBezTo>
                  <a:cubicBezTo>
                    <a:pt x="17790" y="3901"/>
                    <a:pt x="27209" y="0"/>
                    <a:pt x="3703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62056" cy="763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34109" y="2485723"/>
            <a:ext cx="294514" cy="29451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062026" y="2047553"/>
            <a:ext cx="4154861" cy="2972492"/>
            <a:chOff x="0" y="0"/>
            <a:chExt cx="1094285" cy="7828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104439" y="5389538"/>
            <a:ext cx="4154861" cy="2972492"/>
            <a:chOff x="0" y="0"/>
            <a:chExt cx="1094285" cy="7828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C6CDD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445612" y="2552504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Analyze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488024" y="5894489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Segment &amp; Predict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6658447" y="2511215"/>
            <a:ext cx="294514" cy="294514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700859" y="5853201"/>
            <a:ext cx="294514" cy="29451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9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38" name="TextBox 40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39" name="TextBox 41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40" name="TextBox 42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41" name="TextBox 43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42" name="TextBox 44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43" name="TextBox 45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44" name="TextBox 46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45" name="TextBox 47"/>
          <p:cNvSpPr txBox="1"/>
          <p:nvPr/>
        </p:nvSpPr>
        <p:spPr>
          <a:xfrm>
            <a:off x="1224000" y="6079731"/>
            <a:ext cx="8519798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45"/>
              </a:lnSpc>
            </a:pPr>
            <a:r>
              <a:rPr lang="en-US" sz="10717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id="46" name="TextBox 48"/>
          <p:cNvSpPr txBox="1"/>
          <p:nvPr/>
        </p:nvSpPr>
        <p:spPr>
          <a:xfrm>
            <a:off x="1908796" y="7389576"/>
            <a:ext cx="8438380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45"/>
              </a:lnSpc>
            </a:pPr>
            <a:r>
              <a:rPr lang="en-US" sz="10717" b="1" spc="-42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Objectives</a:t>
            </a:r>
          </a:p>
        </p:txBody>
      </p:sp>
      <p:sp>
        <p:nvSpPr>
          <p:cNvPr id="47" name="TextBox 49"/>
          <p:cNvSpPr txBox="1"/>
          <p:nvPr/>
        </p:nvSpPr>
        <p:spPr>
          <a:xfrm>
            <a:off x="1659293" y="3052655"/>
            <a:ext cx="5264665" cy="113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Build a reproducible analytics pipeline and an interactive dashboard that turns 1M+ raw retail transactions into clear, filterable insight a manager can act on without writing code.</a:t>
            </a:r>
          </a:p>
        </p:txBody>
      </p:sp>
      <p:sp>
        <p:nvSpPr>
          <p:cNvPr id="48" name="TextBox 50"/>
          <p:cNvSpPr txBox="1"/>
          <p:nvPr/>
        </p:nvSpPr>
        <p:spPr>
          <a:xfrm>
            <a:off x="1659293" y="2543093"/>
            <a:ext cx="5175996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Goal In This Project</a:t>
            </a:r>
          </a:p>
        </p:txBody>
      </p:sp>
      <p:sp>
        <p:nvSpPr>
          <p:cNvPr id="49" name="TextBox 51"/>
          <p:cNvSpPr txBox="1"/>
          <p:nvPr/>
        </p:nvSpPr>
        <p:spPr>
          <a:xfrm>
            <a:off x="13445612" y="3062066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Clean the data and measure revenue, category mix, country footprint, delivery performance and review ratings for 2009–2011.</a:t>
            </a:r>
          </a:p>
        </p:txBody>
      </p:sp>
      <p:sp>
        <p:nvSpPr>
          <p:cNvPr id="50" name="TextBox 52"/>
          <p:cNvSpPr txBox="1"/>
          <p:nvPr/>
        </p:nvSpPr>
        <p:spPr>
          <a:xfrm>
            <a:off x="13488024" y="6404051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Group customers into RFM segments, forecast daily revenue with ARIMA, and test a linear regression model using MSE and R².</a:t>
            </a:r>
          </a:p>
        </p:txBody>
      </p:sp>
      <p:sp>
        <p:nvSpPr>
          <p:cNvPr id="51" name="Freeform 53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2" name="AutoShape 60"/>
          <p:cNvSpPr/>
          <p:nvPr/>
        </p:nvSpPr>
        <p:spPr>
          <a:xfrm>
            <a:off x="5279390" y="1003300"/>
            <a:ext cx="833119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3" name="Rounded Rectangle 60"/>
          <p:cNvSpPr/>
          <p:nvPr/>
        </p:nvSpPr>
        <p:spPr>
          <a:xfrm>
            <a:off x="8229600" y="2044700"/>
            <a:ext cx="4572000" cy="4191000"/>
          </a:xfrm>
          <a:prstGeom prst="roundRect">
            <a:avLst>
              <a:gd name="adj" fmla="val 6000"/>
            </a:avLst>
          </a:prstGeom>
          <a:solidFill>
            <a:srgbClr val="C6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61"/>
          <p:cNvSpPr/>
          <p:nvPr/>
        </p:nvSpPr>
        <p:spPr>
          <a:xfrm>
            <a:off x="12217400" y="2374900"/>
            <a:ext cx="292100" cy="292100"/>
          </a:xfrm>
          <a:prstGeom prst="ellipse">
            <a:avLst/>
          </a:prstGeom>
          <a:solidFill>
            <a:srgbClr val="2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44"/>
          <p:cNvSpPr txBox="1"/>
          <p:nvPr/>
        </p:nvSpPr>
        <p:spPr>
          <a:xfrm>
            <a:off x="8610600" y="2349500"/>
            <a:ext cx="3429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500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Measurable Targets</a:t>
            </a:r>
          </a:p>
        </p:txBody>
      </p:sp>
      <p:sp>
        <p:nvSpPr>
          <p:cNvPr id="56" name="TextBox 39"/>
          <p:cNvSpPr txBox="1"/>
          <p:nvPr/>
        </p:nvSpPr>
        <p:spPr>
          <a:xfrm>
            <a:off x="8610600" y="2933700"/>
            <a:ext cx="4067844" cy="2795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Clean 1M+ rows reproducibly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Report 6 headline KPIs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Build 7 interactive analysis tabs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Create 5 RFM customer segments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Forecast revenue 7–30 days ahead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Evaluate regression with MSE &amp; R²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-1799103" y="9186939"/>
            <a:ext cx="5316075" cy="1969184"/>
            <a:chOff x="0" y="0"/>
            <a:chExt cx="1400119" cy="5186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4806286" y="9758439"/>
            <a:ext cx="17800010" cy="2065376"/>
            <a:chOff x="0" y="0"/>
            <a:chExt cx="4688069" cy="5439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9"/>
          <p:cNvGrpSpPr/>
          <p:nvPr/>
        </p:nvGrpSpPr>
        <p:grpSpPr>
          <a:xfrm>
            <a:off x="1224000" y="2659713"/>
            <a:ext cx="6690306" cy="4940040"/>
            <a:chOff x="0" y="0"/>
            <a:chExt cx="1762056" cy="1301080"/>
          </a:xfrm>
        </p:grpSpPr>
        <p:sp>
          <p:nvSpPr>
            <p:cNvPr id="18" name="Freeform 20"/>
            <p:cNvSpPr/>
            <p:nvPr/>
          </p:nvSpPr>
          <p:spPr>
            <a:xfrm>
              <a:off x="0" y="0"/>
              <a:ext cx="1762056" cy="1301080"/>
            </a:xfrm>
            <a:custGeom>
              <a:avLst/>
              <a:gdLst/>
              <a:ahLst/>
              <a:cxnLst/>
              <a:rect l="l" t="t" r="r" b="b"/>
              <a:pathLst>
                <a:path w="1762056" h="1301080">
                  <a:moveTo>
                    <a:pt x="37030" y="0"/>
                  </a:moveTo>
                  <a:lnTo>
                    <a:pt x="1725026" y="0"/>
                  </a:lnTo>
                  <a:cubicBezTo>
                    <a:pt x="1734847" y="0"/>
                    <a:pt x="1744266" y="3901"/>
                    <a:pt x="1751210" y="10846"/>
                  </a:cubicBezTo>
                  <a:cubicBezTo>
                    <a:pt x="1758155" y="17790"/>
                    <a:pt x="1762056" y="27209"/>
                    <a:pt x="1762056" y="37030"/>
                  </a:cubicBezTo>
                  <a:lnTo>
                    <a:pt x="1762056" y="1264051"/>
                  </a:lnTo>
                  <a:cubicBezTo>
                    <a:pt x="1762056" y="1273871"/>
                    <a:pt x="1758155" y="1283290"/>
                    <a:pt x="1751210" y="1290235"/>
                  </a:cubicBezTo>
                  <a:cubicBezTo>
                    <a:pt x="1744266" y="1297179"/>
                    <a:pt x="1734847" y="1301080"/>
                    <a:pt x="1725026" y="1301080"/>
                  </a:cubicBezTo>
                  <a:lnTo>
                    <a:pt x="37030" y="1301080"/>
                  </a:lnTo>
                  <a:cubicBezTo>
                    <a:pt x="27209" y="1301080"/>
                    <a:pt x="17790" y="1297179"/>
                    <a:pt x="10846" y="1290235"/>
                  </a:cubicBezTo>
                  <a:cubicBezTo>
                    <a:pt x="3901" y="1283290"/>
                    <a:pt x="0" y="1273871"/>
                    <a:pt x="0" y="1264051"/>
                  </a:cubicBezTo>
                  <a:lnTo>
                    <a:pt x="0" y="37030"/>
                  </a:lnTo>
                  <a:cubicBezTo>
                    <a:pt x="0" y="27209"/>
                    <a:pt x="3901" y="17790"/>
                    <a:pt x="10846" y="10846"/>
                  </a:cubicBezTo>
                  <a:cubicBezTo>
                    <a:pt x="17790" y="3901"/>
                    <a:pt x="27209" y="0"/>
                    <a:pt x="3703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21"/>
            <p:cNvSpPr txBox="1"/>
            <p:nvPr/>
          </p:nvSpPr>
          <p:spPr>
            <a:xfrm>
              <a:off x="0" y="-38100"/>
              <a:ext cx="1762056" cy="1339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2"/>
          <p:cNvGrpSpPr/>
          <p:nvPr/>
        </p:nvGrpSpPr>
        <p:grpSpPr>
          <a:xfrm>
            <a:off x="7034109" y="3097883"/>
            <a:ext cx="294514" cy="294514"/>
            <a:chOff x="0" y="0"/>
            <a:chExt cx="812800" cy="812800"/>
          </a:xfrm>
        </p:grpSpPr>
        <p:sp>
          <p:nvSpPr>
            <p:cNvPr id="21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5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24" name="TextBox 26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25" name="TextBox 27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26" name="TextBox 28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27" name="TextBox 29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28" name="TextBox 30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29" name="TextBox 31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30" name="TextBox 32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31" name="TextBox 33"/>
          <p:cNvSpPr txBox="1"/>
          <p:nvPr/>
        </p:nvSpPr>
        <p:spPr>
          <a:xfrm>
            <a:off x="9512503" y="1841660"/>
            <a:ext cx="8644875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45"/>
              </a:lnSpc>
            </a:pPr>
            <a:r>
              <a:rPr lang="en-US" sz="10717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Existing</a:t>
            </a:r>
          </a:p>
        </p:txBody>
      </p:sp>
      <p:sp>
        <p:nvSpPr>
          <p:cNvPr id="32" name="TextBox 34"/>
          <p:cNvSpPr txBox="1"/>
          <p:nvPr/>
        </p:nvSpPr>
        <p:spPr>
          <a:xfrm>
            <a:off x="10197299" y="3151505"/>
            <a:ext cx="7960078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45"/>
              </a:lnSpc>
            </a:pPr>
            <a:r>
              <a:rPr lang="en-US" sz="10717" b="1" spc="-42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System</a:t>
            </a:r>
          </a:p>
        </p:txBody>
      </p:sp>
      <p:sp>
        <p:nvSpPr>
          <p:cNvPr id="33" name="TextBox 35"/>
          <p:cNvSpPr txBox="1"/>
          <p:nvPr/>
        </p:nvSpPr>
        <p:spPr>
          <a:xfrm>
            <a:off x="1659293" y="3664816"/>
            <a:ext cx="5264665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Retail data usually lives in Excel sheets and static monthly reports. Analysts filter rows by hand, and every new question means rebuilding pivot tables and charts from scratch.</a:t>
            </a:r>
          </a:p>
        </p:txBody>
      </p:sp>
      <p:sp>
        <p:nvSpPr>
          <p:cNvPr id="34" name="TextBox 36"/>
          <p:cNvSpPr txBox="1"/>
          <p:nvPr/>
        </p:nvSpPr>
        <p:spPr>
          <a:xfrm>
            <a:off x="1659293" y="5207000"/>
            <a:ext cx="5264665" cy="220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lnSpc>
                <a:spcPts val="2176"/>
              </a:lnSpc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exported manually from the order system</a:t>
            </a:r>
          </a:p>
          <a:p>
            <a:pPr marL="177800" indent="-177800" algn="l">
              <a:lnSpc>
                <a:spcPts val="2176"/>
              </a:lnSpc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Excel pivot tables with basic bar and pie charts</a:t>
            </a:r>
          </a:p>
          <a:p>
            <a:pPr marL="177800" indent="-177800" algn="l">
              <a:lnSpc>
                <a:spcPts val="2176"/>
              </a:lnSpc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Static PDF / PowerPoint reports shared monthly</a:t>
            </a:r>
          </a:p>
          <a:p>
            <a:pPr marL="177800" indent="-177800" algn="l">
              <a:lnSpc>
                <a:spcPts val="2176"/>
              </a:lnSpc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Decisions based on last month’s numbers</a:t>
            </a:r>
          </a:p>
        </p:txBody>
      </p:sp>
      <p:sp>
        <p:nvSpPr>
          <p:cNvPr id="35" name="TextBox 37"/>
          <p:cNvSpPr txBox="1"/>
          <p:nvPr/>
        </p:nvSpPr>
        <p:spPr>
          <a:xfrm>
            <a:off x="1659293" y="3155253"/>
            <a:ext cx="5175996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How It Works Today</a:t>
            </a:r>
          </a:p>
        </p:txBody>
      </p:sp>
      <p:sp>
        <p:nvSpPr>
          <p:cNvPr id="36" name="Freeform 38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7" name="AutoShape 60"/>
          <p:cNvSpPr/>
          <p:nvPr/>
        </p:nvSpPr>
        <p:spPr>
          <a:xfrm>
            <a:off x="6729730" y="1003300"/>
            <a:ext cx="624840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8" name="Rounded Rectangle 60"/>
          <p:cNvSpPr/>
          <p:nvPr/>
        </p:nvSpPr>
        <p:spPr>
          <a:xfrm>
            <a:off x="9512300" y="5016500"/>
            <a:ext cx="7670800" cy="3949910"/>
          </a:xfrm>
          <a:prstGeom prst="roundRect">
            <a:avLst>
              <a:gd name="adj" fmla="val 6000"/>
            </a:avLst>
          </a:prstGeom>
          <a:solidFill>
            <a:srgbClr val="C6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61"/>
          <p:cNvSpPr/>
          <p:nvPr/>
        </p:nvSpPr>
        <p:spPr>
          <a:xfrm>
            <a:off x="16598900" y="5346700"/>
            <a:ext cx="292100" cy="292100"/>
          </a:xfrm>
          <a:prstGeom prst="ellipse">
            <a:avLst/>
          </a:prstGeom>
          <a:solidFill>
            <a:srgbClr val="2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44"/>
          <p:cNvSpPr txBox="1"/>
          <p:nvPr/>
        </p:nvSpPr>
        <p:spPr>
          <a:xfrm>
            <a:off x="9893300" y="5321300"/>
            <a:ext cx="65278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500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Drawbacks</a:t>
            </a:r>
          </a:p>
        </p:txBody>
      </p:sp>
      <p:sp>
        <p:nvSpPr>
          <p:cNvPr id="41" name="TextBox 39"/>
          <p:cNvSpPr txBox="1"/>
          <p:nvPr/>
        </p:nvSpPr>
        <p:spPr>
          <a:xfrm>
            <a:off x="9893299" y="5905500"/>
            <a:ext cx="7670797" cy="2923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No interactive filters by year, country, category or segment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No customer segmentation: loyal and at-risk buyers look </a:t>
            </a:r>
          </a:p>
          <a:p>
            <a:pPr algn="l">
              <a:spcAft>
                <a:spcPts val="10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  the same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No forecasting, so Q4 demand peaks are planned by </a:t>
            </a:r>
          </a:p>
          <a:p>
            <a:pPr algn="l">
              <a:spcAft>
                <a:spcPts val="10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  guesswork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Excel slows down or crashes on 1M+ rows</a:t>
            </a:r>
          </a:p>
          <a:p>
            <a:pPr marL="177800" indent="-177800" algn="l">
              <a:spcAft>
                <a:spcPts val="10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Delivery and review data are never linked to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4000" y="2024953"/>
            <a:ext cx="8644875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45"/>
              </a:lnSpc>
            </a:pPr>
            <a:r>
              <a:rPr lang="en-US" sz="10717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Proposed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08796" y="3334798"/>
            <a:ext cx="8814487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45"/>
              </a:lnSpc>
            </a:pPr>
            <a:r>
              <a:rPr lang="en-US" sz="10717" b="1" spc="-42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System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19200" y="5461000"/>
            <a:ext cx="5334000" cy="142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4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We propose a Python analytics pipeline plus a </a:t>
            </a:r>
            <a:r>
              <a:rPr lang="en-US" sz="2400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24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web dashboard that lets anyone explore 1M+ transactions through filters and interactive </a:t>
            </a:r>
            <a:r>
              <a:rPr lang="en-US" sz="2400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Plotly</a:t>
            </a:r>
            <a:r>
              <a:rPr lang="en-US" sz="24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charts.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3818" y="7185998"/>
            <a:ext cx="5334000" cy="142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4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Every technique maps to a DAV practical (1–8): Pandas cleaning, Matplotlib / Seaborn plots, </a:t>
            </a:r>
            <a:r>
              <a:rPr lang="en-US" sz="2400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Plotly</a:t>
            </a:r>
            <a:r>
              <a:rPr lang="en-US" sz="24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interactivity, ARIMA time series and regression.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347177" y="1682288"/>
            <a:ext cx="6912123" cy="2148891"/>
            <a:chOff x="0" y="0"/>
            <a:chExt cx="1820477" cy="56596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20477" cy="565963"/>
            </a:xfrm>
            <a:custGeom>
              <a:avLst/>
              <a:gdLst/>
              <a:ahLst/>
              <a:cxnLst/>
              <a:rect l="l" t="t" r="r" b="b"/>
              <a:pathLst>
                <a:path w="1820477" h="565963">
                  <a:moveTo>
                    <a:pt x="35842" y="0"/>
                  </a:moveTo>
                  <a:lnTo>
                    <a:pt x="1784635" y="0"/>
                  </a:lnTo>
                  <a:cubicBezTo>
                    <a:pt x="1794141" y="0"/>
                    <a:pt x="1803258" y="3776"/>
                    <a:pt x="1809979" y="10498"/>
                  </a:cubicBezTo>
                  <a:cubicBezTo>
                    <a:pt x="1816701" y="17219"/>
                    <a:pt x="1820477" y="26336"/>
                    <a:pt x="1820477" y="35842"/>
                  </a:cubicBezTo>
                  <a:lnTo>
                    <a:pt x="1820477" y="530122"/>
                  </a:lnTo>
                  <a:cubicBezTo>
                    <a:pt x="1820477" y="549916"/>
                    <a:pt x="1804430" y="565963"/>
                    <a:pt x="1784635" y="565963"/>
                  </a:cubicBezTo>
                  <a:lnTo>
                    <a:pt x="35842" y="565963"/>
                  </a:lnTo>
                  <a:cubicBezTo>
                    <a:pt x="26336" y="565963"/>
                    <a:pt x="17219" y="562187"/>
                    <a:pt x="10498" y="555465"/>
                  </a:cubicBezTo>
                  <a:cubicBezTo>
                    <a:pt x="3776" y="548744"/>
                    <a:pt x="0" y="539627"/>
                    <a:pt x="0" y="530122"/>
                  </a:cubicBezTo>
                  <a:lnTo>
                    <a:pt x="0" y="35842"/>
                  </a:lnTo>
                  <a:cubicBezTo>
                    <a:pt x="0" y="26336"/>
                    <a:pt x="3776" y="17219"/>
                    <a:pt x="10498" y="10498"/>
                  </a:cubicBezTo>
                  <a:cubicBezTo>
                    <a:pt x="17219" y="3776"/>
                    <a:pt x="26336" y="0"/>
                    <a:pt x="3584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820477" cy="604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78878" y="3986994"/>
            <a:ext cx="6912123" cy="2148891"/>
            <a:chOff x="0" y="0"/>
            <a:chExt cx="1820477" cy="56596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20477" cy="565963"/>
            </a:xfrm>
            <a:custGeom>
              <a:avLst/>
              <a:gdLst/>
              <a:ahLst/>
              <a:cxnLst/>
              <a:rect l="l" t="t" r="r" b="b"/>
              <a:pathLst>
                <a:path w="1820477" h="565963">
                  <a:moveTo>
                    <a:pt x="35842" y="0"/>
                  </a:moveTo>
                  <a:lnTo>
                    <a:pt x="1784635" y="0"/>
                  </a:lnTo>
                  <a:cubicBezTo>
                    <a:pt x="1794141" y="0"/>
                    <a:pt x="1803258" y="3776"/>
                    <a:pt x="1809979" y="10498"/>
                  </a:cubicBezTo>
                  <a:cubicBezTo>
                    <a:pt x="1816701" y="17219"/>
                    <a:pt x="1820477" y="26336"/>
                    <a:pt x="1820477" y="35842"/>
                  </a:cubicBezTo>
                  <a:lnTo>
                    <a:pt x="1820477" y="530122"/>
                  </a:lnTo>
                  <a:cubicBezTo>
                    <a:pt x="1820477" y="549916"/>
                    <a:pt x="1804430" y="565963"/>
                    <a:pt x="1784635" y="565963"/>
                  </a:cubicBezTo>
                  <a:lnTo>
                    <a:pt x="35842" y="565963"/>
                  </a:lnTo>
                  <a:cubicBezTo>
                    <a:pt x="26336" y="565963"/>
                    <a:pt x="17219" y="562187"/>
                    <a:pt x="10498" y="555465"/>
                  </a:cubicBezTo>
                  <a:cubicBezTo>
                    <a:pt x="3776" y="548744"/>
                    <a:pt x="0" y="539627"/>
                    <a:pt x="0" y="530122"/>
                  </a:cubicBezTo>
                  <a:lnTo>
                    <a:pt x="0" y="35842"/>
                  </a:lnTo>
                  <a:cubicBezTo>
                    <a:pt x="0" y="26336"/>
                    <a:pt x="3776" y="17219"/>
                    <a:pt x="10498" y="10498"/>
                  </a:cubicBezTo>
                  <a:cubicBezTo>
                    <a:pt x="17219" y="3776"/>
                    <a:pt x="26336" y="0"/>
                    <a:pt x="35842" y="0"/>
                  </a:cubicBezTo>
                  <a:close/>
                </a:path>
              </a:pathLst>
            </a:custGeom>
            <a:solidFill>
              <a:srgbClr val="C6CDD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820477" cy="604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659879" y="2552700"/>
            <a:ext cx="6350122" cy="113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data_preprocessing.py removes invalid rows, flags cancellations and adds date, category, delivery, review and RFM features, then saves a cleaned CSV and a 100k sample.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91581" y="4864100"/>
            <a:ext cx="6350122" cy="84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app.py shows 6 KPI cards and 5 global filters (year, date, country, category, segment) that drive 7 tabs built with </a:t>
            </a:r>
            <a:r>
              <a:rPr lang="en-US" sz="2000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Plotly</a:t>
            </a: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Express and Graph Objects.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659879" y="2178762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 Pipeline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691581" y="4483468"/>
            <a:ext cx="5080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Interactive Dashboard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6695222" y="2145950"/>
            <a:ext cx="294514" cy="29451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6726924" y="4450657"/>
            <a:ext cx="294514" cy="294514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410580" y="6291700"/>
            <a:ext cx="6912123" cy="2148891"/>
            <a:chOff x="0" y="0"/>
            <a:chExt cx="1820477" cy="5659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820477" cy="565963"/>
            </a:xfrm>
            <a:custGeom>
              <a:avLst/>
              <a:gdLst/>
              <a:ahLst/>
              <a:cxnLst/>
              <a:rect l="l" t="t" r="r" b="b"/>
              <a:pathLst>
                <a:path w="1820477" h="565963">
                  <a:moveTo>
                    <a:pt x="35842" y="0"/>
                  </a:moveTo>
                  <a:lnTo>
                    <a:pt x="1784635" y="0"/>
                  </a:lnTo>
                  <a:cubicBezTo>
                    <a:pt x="1794141" y="0"/>
                    <a:pt x="1803258" y="3776"/>
                    <a:pt x="1809979" y="10498"/>
                  </a:cubicBezTo>
                  <a:cubicBezTo>
                    <a:pt x="1816701" y="17219"/>
                    <a:pt x="1820477" y="26336"/>
                    <a:pt x="1820477" y="35842"/>
                  </a:cubicBezTo>
                  <a:lnTo>
                    <a:pt x="1820477" y="530122"/>
                  </a:lnTo>
                  <a:cubicBezTo>
                    <a:pt x="1820477" y="549916"/>
                    <a:pt x="1804430" y="565963"/>
                    <a:pt x="1784635" y="565963"/>
                  </a:cubicBezTo>
                  <a:lnTo>
                    <a:pt x="35842" y="565963"/>
                  </a:lnTo>
                  <a:cubicBezTo>
                    <a:pt x="26336" y="565963"/>
                    <a:pt x="17219" y="562187"/>
                    <a:pt x="10498" y="555465"/>
                  </a:cubicBezTo>
                  <a:cubicBezTo>
                    <a:pt x="3776" y="548744"/>
                    <a:pt x="0" y="539627"/>
                    <a:pt x="0" y="530122"/>
                  </a:cubicBezTo>
                  <a:lnTo>
                    <a:pt x="0" y="35842"/>
                  </a:lnTo>
                  <a:cubicBezTo>
                    <a:pt x="0" y="26336"/>
                    <a:pt x="3776" y="17219"/>
                    <a:pt x="10498" y="10498"/>
                  </a:cubicBezTo>
                  <a:cubicBezTo>
                    <a:pt x="17219" y="3776"/>
                    <a:pt x="26336" y="0"/>
                    <a:pt x="3584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820477" cy="604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723283" y="7162800"/>
            <a:ext cx="6350122" cy="84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RFM customer segmentation, 7-day SMA / EMA smoothing, ARIMA(1,1,1) forecasts with confidence bands, a correlation heatmap and linear regression.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723283" y="6788174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Analytics &amp; ML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6758626" y="6755363"/>
            <a:ext cx="294514" cy="294514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3" name="Freeform 53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4" name="AutoShape 60"/>
          <p:cNvSpPr/>
          <p:nvPr/>
        </p:nvSpPr>
        <p:spPr>
          <a:xfrm>
            <a:off x="6729730" y="1003300"/>
            <a:ext cx="624840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4000" y="1863764"/>
            <a:ext cx="15240000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8400" b="0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System </a:t>
            </a:r>
            <a:r>
              <a:rPr lang="en-US" sz="8400" b="1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Architecture</a:t>
            </a:r>
          </a:p>
        </p:txBody>
      </p:sp>
      <p:grpSp>
        <p:nvGrpSpPr>
          <p:cNvPr id="19" name="Group 111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20" name="Freeform 112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113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114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23" name="Freeform 115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116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117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6" name="AutoShape 60"/>
          <p:cNvSpPr/>
          <p:nvPr/>
        </p:nvSpPr>
        <p:spPr>
          <a:xfrm>
            <a:off x="6729730" y="1003300"/>
            <a:ext cx="624840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Rounded Rectangle 117"/>
          <p:cNvSpPr/>
          <p:nvPr/>
        </p:nvSpPr>
        <p:spPr>
          <a:xfrm>
            <a:off x="1460500" y="3683000"/>
            <a:ext cx="2667000" cy="3048000"/>
          </a:xfrm>
          <a:prstGeom prst="roundRect">
            <a:avLst>
              <a:gd name="adj" fmla="val 8000"/>
            </a:avLst>
          </a:prstGeom>
          <a:solidFill>
            <a:srgbClr val="22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99"/>
          <p:cNvSpPr txBox="1"/>
          <p:nvPr/>
        </p:nvSpPr>
        <p:spPr>
          <a:xfrm>
            <a:off x="1689100" y="3886200"/>
            <a:ext cx="762000" cy="47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spc="-193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29" name="TextBox 105"/>
          <p:cNvSpPr txBox="1"/>
          <p:nvPr/>
        </p:nvSpPr>
        <p:spPr>
          <a:xfrm>
            <a:off x="1689100" y="4470400"/>
            <a:ext cx="2286000" cy="31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b="1" spc="-12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Raw Data</a:t>
            </a:r>
          </a:p>
        </p:txBody>
      </p:sp>
      <p:sp>
        <p:nvSpPr>
          <p:cNvPr id="30" name="TextBox 109"/>
          <p:cNvSpPr txBox="1"/>
          <p:nvPr/>
        </p:nvSpPr>
        <p:spPr>
          <a:xfrm>
            <a:off x="1663700" y="4978400"/>
            <a:ext cx="2260600" cy="80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600" spc="-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online_retail_II.xlsx converted to CSV: 1.07M rows, 8 columns</a:t>
            </a:r>
          </a:p>
        </p:txBody>
      </p:sp>
      <p:sp>
        <p:nvSpPr>
          <p:cNvPr id="31" name="Right Arrow 118"/>
          <p:cNvSpPr/>
          <p:nvPr/>
        </p:nvSpPr>
        <p:spPr>
          <a:xfrm>
            <a:off x="4229100" y="5067300"/>
            <a:ext cx="304800" cy="279400"/>
          </a:xfrm>
          <a:prstGeom prst="rightArrow">
            <a:avLst/>
          </a:prstGeom>
          <a:solidFill>
            <a:srgbClr val="7F8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119"/>
          <p:cNvSpPr/>
          <p:nvPr/>
        </p:nvSpPr>
        <p:spPr>
          <a:xfrm>
            <a:off x="4635500" y="3683000"/>
            <a:ext cx="2667000" cy="3048000"/>
          </a:xfrm>
          <a:prstGeom prst="roundRect">
            <a:avLst>
              <a:gd name="adj" fmla="val 8000"/>
            </a:avLst>
          </a:prstGeom>
          <a:solidFill>
            <a:srgbClr val="C6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99"/>
          <p:cNvSpPr txBox="1"/>
          <p:nvPr/>
        </p:nvSpPr>
        <p:spPr>
          <a:xfrm>
            <a:off x="4864100" y="3886200"/>
            <a:ext cx="762000" cy="47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spc="-193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34" name="TextBox 105"/>
          <p:cNvSpPr txBox="1"/>
          <p:nvPr/>
        </p:nvSpPr>
        <p:spPr>
          <a:xfrm>
            <a:off x="4864100" y="4470400"/>
            <a:ext cx="2286000" cy="31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b="1" spc="-129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Cleaning</a:t>
            </a:r>
          </a:p>
        </p:txBody>
      </p:sp>
      <p:sp>
        <p:nvSpPr>
          <p:cNvPr id="35" name="TextBox 109"/>
          <p:cNvSpPr txBox="1"/>
          <p:nvPr/>
        </p:nvSpPr>
        <p:spPr>
          <a:xfrm>
            <a:off x="4838700" y="4978400"/>
            <a:ext cx="2260600" cy="80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600" spc="-3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Trim text, drop invalid items and zero prices, flag ‘C’ invoices</a:t>
            </a:r>
          </a:p>
        </p:txBody>
      </p:sp>
      <p:sp>
        <p:nvSpPr>
          <p:cNvPr id="36" name="Right Arrow 120"/>
          <p:cNvSpPr/>
          <p:nvPr/>
        </p:nvSpPr>
        <p:spPr>
          <a:xfrm>
            <a:off x="7404100" y="5067300"/>
            <a:ext cx="304800" cy="279400"/>
          </a:xfrm>
          <a:prstGeom prst="rightArrow">
            <a:avLst/>
          </a:prstGeom>
          <a:solidFill>
            <a:srgbClr val="7F8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21"/>
          <p:cNvSpPr/>
          <p:nvPr/>
        </p:nvSpPr>
        <p:spPr>
          <a:xfrm>
            <a:off x="7810500" y="3683000"/>
            <a:ext cx="2667000" cy="3048000"/>
          </a:xfrm>
          <a:prstGeom prst="roundRect">
            <a:avLst>
              <a:gd name="adj" fmla="val 8000"/>
            </a:avLst>
          </a:prstGeom>
          <a:solidFill>
            <a:srgbClr val="22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99"/>
          <p:cNvSpPr txBox="1"/>
          <p:nvPr/>
        </p:nvSpPr>
        <p:spPr>
          <a:xfrm>
            <a:off x="8039100" y="3886200"/>
            <a:ext cx="762000" cy="47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spc="-193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id="39" name="TextBox 105"/>
          <p:cNvSpPr txBox="1"/>
          <p:nvPr/>
        </p:nvSpPr>
        <p:spPr>
          <a:xfrm>
            <a:off x="8039100" y="4470400"/>
            <a:ext cx="2286000" cy="31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b="1" spc="-12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Features</a:t>
            </a:r>
          </a:p>
        </p:txBody>
      </p:sp>
      <p:sp>
        <p:nvSpPr>
          <p:cNvPr id="40" name="TextBox 109"/>
          <p:cNvSpPr txBox="1"/>
          <p:nvPr/>
        </p:nvSpPr>
        <p:spPr>
          <a:xfrm>
            <a:off x="8013700" y="4978400"/>
            <a:ext cx="2260600" cy="80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600" spc="-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Date parts, np.select categories, simulated delivery &amp; ratings</a:t>
            </a:r>
          </a:p>
        </p:txBody>
      </p:sp>
      <p:sp>
        <p:nvSpPr>
          <p:cNvPr id="41" name="Right Arrow 122"/>
          <p:cNvSpPr/>
          <p:nvPr/>
        </p:nvSpPr>
        <p:spPr>
          <a:xfrm>
            <a:off x="10579100" y="5067300"/>
            <a:ext cx="304800" cy="279400"/>
          </a:xfrm>
          <a:prstGeom prst="rightArrow">
            <a:avLst/>
          </a:prstGeom>
          <a:solidFill>
            <a:srgbClr val="7F8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123"/>
          <p:cNvSpPr/>
          <p:nvPr/>
        </p:nvSpPr>
        <p:spPr>
          <a:xfrm>
            <a:off x="10985500" y="3683000"/>
            <a:ext cx="2667000" cy="3048000"/>
          </a:xfrm>
          <a:prstGeom prst="roundRect">
            <a:avLst>
              <a:gd name="adj" fmla="val 8000"/>
            </a:avLst>
          </a:prstGeom>
          <a:solidFill>
            <a:srgbClr val="C6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99"/>
          <p:cNvSpPr txBox="1"/>
          <p:nvPr/>
        </p:nvSpPr>
        <p:spPr>
          <a:xfrm>
            <a:off x="11214100" y="3886200"/>
            <a:ext cx="762000" cy="47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spc="-193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id="44" name="TextBox 105"/>
          <p:cNvSpPr txBox="1"/>
          <p:nvPr/>
        </p:nvSpPr>
        <p:spPr>
          <a:xfrm>
            <a:off x="11214100" y="4470400"/>
            <a:ext cx="2286000" cy="31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b="1" spc="-129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Segmentation</a:t>
            </a:r>
          </a:p>
        </p:txBody>
      </p:sp>
      <p:sp>
        <p:nvSpPr>
          <p:cNvPr id="45" name="TextBox 109"/>
          <p:cNvSpPr txBox="1"/>
          <p:nvPr/>
        </p:nvSpPr>
        <p:spPr>
          <a:xfrm>
            <a:off x="11188700" y="4978400"/>
            <a:ext cx="2260600" cy="80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600" spc="-3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Recency, Frequency, Monetary scores → 5 customer segments</a:t>
            </a:r>
          </a:p>
        </p:txBody>
      </p:sp>
      <p:sp>
        <p:nvSpPr>
          <p:cNvPr id="46" name="Right Arrow 124"/>
          <p:cNvSpPr/>
          <p:nvPr/>
        </p:nvSpPr>
        <p:spPr>
          <a:xfrm>
            <a:off x="13754100" y="5067300"/>
            <a:ext cx="304800" cy="279400"/>
          </a:xfrm>
          <a:prstGeom prst="rightArrow">
            <a:avLst/>
          </a:prstGeom>
          <a:solidFill>
            <a:srgbClr val="7F8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125"/>
          <p:cNvSpPr/>
          <p:nvPr/>
        </p:nvSpPr>
        <p:spPr>
          <a:xfrm>
            <a:off x="14160500" y="3683000"/>
            <a:ext cx="2667000" cy="3048000"/>
          </a:xfrm>
          <a:prstGeom prst="roundRect">
            <a:avLst>
              <a:gd name="adj" fmla="val 8000"/>
            </a:avLst>
          </a:prstGeom>
          <a:solidFill>
            <a:srgbClr val="22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99"/>
          <p:cNvSpPr txBox="1"/>
          <p:nvPr/>
        </p:nvSpPr>
        <p:spPr>
          <a:xfrm>
            <a:off x="14389100" y="3886200"/>
            <a:ext cx="762000" cy="47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b="1" spc="-193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id="49" name="TextBox 105"/>
          <p:cNvSpPr txBox="1"/>
          <p:nvPr/>
        </p:nvSpPr>
        <p:spPr>
          <a:xfrm>
            <a:off x="14389100" y="4470400"/>
            <a:ext cx="2286000" cy="31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b="1" spc="-12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Storage</a:t>
            </a:r>
          </a:p>
        </p:txBody>
      </p:sp>
      <p:sp>
        <p:nvSpPr>
          <p:cNvPr id="50" name="TextBox 109"/>
          <p:cNvSpPr txBox="1"/>
          <p:nvPr/>
        </p:nvSpPr>
        <p:spPr>
          <a:xfrm>
            <a:off x="14363700" y="4978400"/>
            <a:ext cx="2260600" cy="80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600" spc="-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Cleaned CSV (1.06M rows) + 100k-row sample for a fast dashboard</a:t>
            </a:r>
          </a:p>
        </p:txBody>
      </p:sp>
      <p:sp>
        <p:nvSpPr>
          <p:cNvPr id="51" name="Rounded Rectangle 126"/>
          <p:cNvSpPr/>
          <p:nvPr/>
        </p:nvSpPr>
        <p:spPr>
          <a:xfrm>
            <a:off x="1460500" y="7264400"/>
            <a:ext cx="15367000" cy="1206500"/>
          </a:xfrm>
          <a:prstGeom prst="roundRect">
            <a:avLst>
              <a:gd name="adj" fmla="val 25000"/>
            </a:avLst>
          </a:prstGeom>
          <a:solidFill>
            <a:srgbClr val="22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105"/>
          <p:cNvSpPr txBox="1"/>
          <p:nvPr/>
        </p:nvSpPr>
        <p:spPr>
          <a:xfrm>
            <a:off x="1905000" y="7454900"/>
            <a:ext cx="5080000" cy="31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b="1" spc="-12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Streamlit Dashboard (app.py)</a:t>
            </a:r>
          </a:p>
        </p:txBody>
      </p:sp>
      <p:sp>
        <p:nvSpPr>
          <p:cNvPr id="53" name="TextBox 109"/>
          <p:cNvSpPr txBox="1"/>
          <p:nvPr/>
        </p:nvSpPr>
        <p:spPr>
          <a:xfrm>
            <a:off x="1905000" y="7962900"/>
            <a:ext cx="14478000" cy="80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600" spc="-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global filters  →  6 KPI cards  →  7 Plotly tabs: Revenue · Categories · Locations · Delivery · Reviews · Trends · Forecasting &amp; ML</a:t>
            </a:r>
          </a:p>
        </p:txBody>
      </p:sp>
      <p:sp>
        <p:nvSpPr>
          <p:cNvPr id="54" name="Down Arrow 127"/>
          <p:cNvSpPr/>
          <p:nvPr/>
        </p:nvSpPr>
        <p:spPr>
          <a:xfrm>
            <a:off x="15354300" y="6794500"/>
            <a:ext cx="279400" cy="406400"/>
          </a:xfrm>
          <a:prstGeom prst="downArrow">
            <a:avLst/>
          </a:prstGeom>
          <a:solidFill>
            <a:srgbClr val="7F8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0577" y="2032000"/>
            <a:ext cx="6884963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7400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3900" y="3048000"/>
            <a:ext cx="3563063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9000" b="1" spc="-42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22" name="Freeform 21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174734" y="2385285"/>
            <a:ext cx="4154861" cy="2972492"/>
            <a:chOff x="0" y="0"/>
            <a:chExt cx="1094285" cy="782879"/>
          </a:xfrm>
        </p:grpSpPr>
        <p:sp>
          <p:nvSpPr>
            <p:cNvPr id="25" name="Freeform 24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74734" y="5662577"/>
            <a:ext cx="4154861" cy="2972492"/>
            <a:chOff x="0" y="0"/>
            <a:chExt cx="1094285" cy="782879"/>
          </a:xfrm>
        </p:grpSpPr>
        <p:sp>
          <p:nvSpPr>
            <p:cNvPr id="28" name="Freeform 27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C6CDD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591784" y="2385285"/>
            <a:ext cx="4154861" cy="2972492"/>
            <a:chOff x="0" y="0"/>
            <a:chExt cx="1094285" cy="782879"/>
          </a:xfrm>
        </p:grpSpPr>
        <p:sp>
          <p:nvSpPr>
            <p:cNvPr id="31" name="Freeform 30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C6CDD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591784" y="5662577"/>
            <a:ext cx="4154861" cy="2972492"/>
            <a:chOff x="0" y="0"/>
            <a:chExt cx="1094285" cy="782879"/>
          </a:xfrm>
        </p:grpSpPr>
        <p:sp>
          <p:nvSpPr>
            <p:cNvPr id="34" name="Freeform 33"/>
            <p:cNvSpPr/>
            <p:nvPr/>
          </p:nvSpPr>
          <p:spPr>
            <a:xfrm>
              <a:off x="0" y="0"/>
              <a:ext cx="1094284" cy="782879"/>
            </a:xfrm>
            <a:custGeom>
              <a:avLst/>
              <a:gdLst/>
              <a:ahLst/>
              <a:cxnLst/>
              <a:rect l="l" t="t" r="r" b="b"/>
              <a:pathLst>
                <a:path w="1094284" h="782879">
                  <a:moveTo>
                    <a:pt x="59627" y="0"/>
                  </a:moveTo>
                  <a:lnTo>
                    <a:pt x="1034658" y="0"/>
                  </a:lnTo>
                  <a:cubicBezTo>
                    <a:pt x="1067589" y="0"/>
                    <a:pt x="1094284" y="26696"/>
                    <a:pt x="1094284" y="59627"/>
                  </a:cubicBezTo>
                  <a:lnTo>
                    <a:pt x="1094284" y="723252"/>
                  </a:lnTo>
                  <a:cubicBezTo>
                    <a:pt x="1094284" y="739066"/>
                    <a:pt x="1088002" y="754232"/>
                    <a:pt x="1076820" y="765414"/>
                  </a:cubicBezTo>
                  <a:cubicBezTo>
                    <a:pt x="1065638" y="776596"/>
                    <a:pt x="1050472" y="782879"/>
                    <a:pt x="1034658" y="782879"/>
                  </a:cubicBezTo>
                  <a:lnTo>
                    <a:pt x="59627" y="782879"/>
                  </a:lnTo>
                  <a:cubicBezTo>
                    <a:pt x="26696" y="782879"/>
                    <a:pt x="0" y="756183"/>
                    <a:pt x="0" y="723252"/>
                  </a:cubicBezTo>
                  <a:lnTo>
                    <a:pt x="0" y="59627"/>
                  </a:lnTo>
                  <a:cubicBezTo>
                    <a:pt x="0" y="26696"/>
                    <a:pt x="26696" y="0"/>
                    <a:pt x="59627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0" y="-38100"/>
              <a:ext cx="1094285" cy="820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37" name="Freeform 36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58320" y="3399798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Python 3 as the core language; Pandas for loading, cleaning and group-by; NumPy for </a:t>
            </a:r>
            <a:r>
              <a:rPr lang="en-US" sz="2000" spc="-4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np.select</a:t>
            </a: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rules and random seeds.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58320" y="6677090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Statsmodels</a:t>
            </a: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for ARIMA and seasonal decomposition; Scikit-learn for train/test split, Linear Regression, MSE and R².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75370" y="3399798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6"/>
              </a:lnSpc>
              <a:spcBef>
                <a:spcPct val="0"/>
              </a:spcBef>
            </a:pPr>
            <a:r>
              <a:rPr lang="en-US" sz="2000" u="none" strike="noStrike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Plotly</a:t>
            </a:r>
            <a:r>
              <a:rPr lang="en-US" sz="2000" u="none" strike="noStrike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 Express &amp; Graph Objects for interactive charts and the world map; Matplotlib and Seaborn for notebook plots.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975370" y="6677090"/>
            <a:ext cx="3387690" cy="14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for the web dashboard, Jupyter Notebook for analysis, VS Code for coding, Git and GitHub for version control.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1558320" y="2890236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Language &amp; Data</a:t>
            </a:r>
          </a:p>
        </p:txBody>
      </p:sp>
      <p:sp>
        <p:nvSpPr>
          <p:cNvPr id="44" name="TextBox 45"/>
          <p:cNvSpPr txBox="1"/>
          <p:nvPr/>
        </p:nvSpPr>
        <p:spPr>
          <a:xfrm>
            <a:off x="1558320" y="6167528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Analytics &amp; ML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5975370" y="2890236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  <a:spcBef>
                <a:spcPct val="0"/>
              </a:spcBef>
            </a:pPr>
            <a:r>
              <a:rPr lang="en-US" sz="2507" b="1" u="none" strike="noStrike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Visualization</a:t>
            </a:r>
          </a:p>
        </p:txBody>
      </p:sp>
      <p:sp>
        <p:nvSpPr>
          <p:cNvPr id="46" name="TextBox 47"/>
          <p:cNvSpPr txBox="1"/>
          <p:nvPr/>
        </p:nvSpPr>
        <p:spPr>
          <a:xfrm>
            <a:off x="5975370" y="6167528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Interface &amp; Tools</a:t>
            </a:r>
          </a:p>
        </p:txBody>
      </p:sp>
      <p:grpSp>
        <p:nvGrpSpPr>
          <p:cNvPr id="47" name="Group 48"/>
          <p:cNvGrpSpPr/>
          <p:nvPr/>
        </p:nvGrpSpPr>
        <p:grpSpPr>
          <a:xfrm>
            <a:off x="9215803" y="2848948"/>
            <a:ext cx="294514" cy="294514"/>
            <a:chOff x="0" y="0"/>
            <a:chExt cx="812800" cy="812800"/>
          </a:xfrm>
        </p:grpSpPr>
        <p:sp>
          <p:nvSpPr>
            <p:cNvPr id="48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0" name="Group 51"/>
          <p:cNvGrpSpPr/>
          <p:nvPr/>
        </p:nvGrpSpPr>
        <p:grpSpPr>
          <a:xfrm>
            <a:off x="9215803" y="6134716"/>
            <a:ext cx="294514" cy="294514"/>
            <a:chOff x="0" y="0"/>
            <a:chExt cx="812800" cy="812800"/>
          </a:xfrm>
        </p:grpSpPr>
        <p:sp>
          <p:nvSpPr>
            <p:cNvPr id="51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3" name="Group 54"/>
          <p:cNvGrpSpPr/>
          <p:nvPr/>
        </p:nvGrpSpPr>
        <p:grpSpPr>
          <a:xfrm>
            <a:off x="4771155" y="6134716"/>
            <a:ext cx="294514" cy="294514"/>
            <a:chOff x="0" y="0"/>
            <a:chExt cx="812800" cy="812800"/>
          </a:xfrm>
        </p:grpSpPr>
        <p:sp>
          <p:nvSpPr>
            <p:cNvPr id="54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7"/>
          <p:cNvGrpSpPr/>
          <p:nvPr/>
        </p:nvGrpSpPr>
        <p:grpSpPr>
          <a:xfrm>
            <a:off x="4771155" y="2848948"/>
            <a:ext cx="294514" cy="294514"/>
            <a:chOff x="0" y="0"/>
            <a:chExt cx="812800" cy="812800"/>
          </a:xfrm>
        </p:grpSpPr>
        <p:sp>
          <p:nvSpPr>
            <p:cNvPr id="57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5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9" name="Freeform 61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0" name="AutoShape 60"/>
          <p:cNvSpPr/>
          <p:nvPr/>
        </p:nvSpPr>
        <p:spPr>
          <a:xfrm>
            <a:off x="6729730" y="1003300"/>
            <a:ext cx="624840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Box 44"/>
          <p:cNvSpPr txBox="1"/>
          <p:nvPr/>
        </p:nvSpPr>
        <p:spPr>
          <a:xfrm>
            <a:off x="10883900" y="4635500"/>
            <a:ext cx="6350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600" b="1" spc="-10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Hardware</a:t>
            </a:r>
          </a:p>
        </p:txBody>
      </p:sp>
      <p:sp>
        <p:nvSpPr>
          <p:cNvPr id="62" name="TextBox 39"/>
          <p:cNvSpPr txBox="1"/>
          <p:nvPr/>
        </p:nvSpPr>
        <p:spPr>
          <a:xfrm>
            <a:off x="10883900" y="5143500"/>
            <a:ext cx="63500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Intel i5 / Ryzen 5 or equivalent processor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8 GB RAM (16 GB for the full 1M-row mode)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About 1 GB free disk space for data files</a:t>
            </a:r>
          </a:p>
        </p:txBody>
      </p:sp>
      <p:sp>
        <p:nvSpPr>
          <p:cNvPr id="63" name="TextBox 44"/>
          <p:cNvSpPr txBox="1"/>
          <p:nvPr/>
        </p:nvSpPr>
        <p:spPr>
          <a:xfrm>
            <a:off x="10883900" y="6477000"/>
            <a:ext cx="6350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600" b="1" spc="-10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Software</a:t>
            </a:r>
          </a:p>
        </p:txBody>
      </p:sp>
      <p:sp>
        <p:nvSpPr>
          <p:cNvPr id="64" name="TextBox 39"/>
          <p:cNvSpPr txBox="1"/>
          <p:nvPr/>
        </p:nvSpPr>
        <p:spPr>
          <a:xfrm>
            <a:off x="10883900" y="6985000"/>
            <a:ext cx="63500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Windows, Linux or macOS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Python 3.10+ with the libraries listed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Chrome or Edge browser to view the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4000" y="7340600"/>
            <a:ext cx="8644875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9200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Implementation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21" name="Freeform 20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24" name="Freeform 23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224000" y="1892662"/>
            <a:ext cx="8522646" cy="4622819"/>
            <a:chOff x="0" y="0"/>
            <a:chExt cx="2244647" cy="1217533"/>
          </a:xfrm>
        </p:grpSpPr>
        <p:sp>
          <p:nvSpPr>
            <p:cNvPr id="27" name="Freeform 26"/>
            <p:cNvSpPr/>
            <p:nvPr/>
          </p:nvSpPr>
          <p:spPr>
            <a:xfrm>
              <a:off x="0" y="0"/>
              <a:ext cx="2244647" cy="1217533"/>
            </a:xfrm>
            <a:custGeom>
              <a:avLst/>
              <a:gdLst/>
              <a:ahLst/>
              <a:cxnLst/>
              <a:rect l="l" t="t" r="r" b="b"/>
              <a:pathLst>
                <a:path w="2244647" h="1217533">
                  <a:moveTo>
                    <a:pt x="29069" y="0"/>
                  </a:moveTo>
                  <a:lnTo>
                    <a:pt x="2215579" y="0"/>
                  </a:lnTo>
                  <a:cubicBezTo>
                    <a:pt x="2231633" y="0"/>
                    <a:pt x="2244647" y="13014"/>
                    <a:pt x="2244647" y="29069"/>
                  </a:cubicBezTo>
                  <a:lnTo>
                    <a:pt x="2244647" y="1188464"/>
                  </a:lnTo>
                  <a:cubicBezTo>
                    <a:pt x="2244647" y="1196173"/>
                    <a:pt x="2241585" y="1203567"/>
                    <a:pt x="2236133" y="1209019"/>
                  </a:cubicBezTo>
                  <a:cubicBezTo>
                    <a:pt x="2230682" y="1214470"/>
                    <a:pt x="2223288" y="1217533"/>
                    <a:pt x="2215579" y="1217533"/>
                  </a:cubicBezTo>
                  <a:lnTo>
                    <a:pt x="29069" y="1217533"/>
                  </a:lnTo>
                  <a:cubicBezTo>
                    <a:pt x="21359" y="1217533"/>
                    <a:pt x="13965" y="1214470"/>
                    <a:pt x="8514" y="1209019"/>
                  </a:cubicBezTo>
                  <a:cubicBezTo>
                    <a:pt x="3063" y="1203567"/>
                    <a:pt x="0" y="1196173"/>
                    <a:pt x="0" y="1188464"/>
                  </a:cubicBezTo>
                  <a:lnTo>
                    <a:pt x="0" y="29069"/>
                  </a:lnTo>
                  <a:cubicBezTo>
                    <a:pt x="0" y="21359"/>
                    <a:pt x="3063" y="13965"/>
                    <a:pt x="8514" y="8514"/>
                  </a:cubicBezTo>
                  <a:cubicBezTo>
                    <a:pt x="13965" y="3063"/>
                    <a:pt x="21359" y="0"/>
                    <a:pt x="2906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0" y="-38100"/>
              <a:ext cx="2244647" cy="1255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649733" y="2413000"/>
            <a:ext cx="4096912" cy="9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6600" spc="-3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1.06M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49733" y="3683000"/>
            <a:ext cx="3494267" cy="165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500" spc="-4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rows cleaned and enriched once by the pipeline; the dashboard loads a cached 100k-row sample, so every filter updates instantly.</a:t>
            </a:r>
          </a:p>
        </p:txBody>
      </p:sp>
      <p:sp>
        <p:nvSpPr>
          <p:cNvPr id="31" name="Freeform 32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2" name="AutoShape 60"/>
          <p:cNvSpPr/>
          <p:nvPr/>
        </p:nvSpPr>
        <p:spPr>
          <a:xfrm>
            <a:off x="8202930" y="1003300"/>
            <a:ext cx="1145539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Box 44"/>
          <p:cNvSpPr txBox="1"/>
          <p:nvPr/>
        </p:nvSpPr>
        <p:spPr>
          <a:xfrm>
            <a:off x="1625600" y="2349500"/>
            <a:ext cx="3810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100" b="1" spc="-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data_preprocessing.py</a:t>
            </a:r>
          </a:p>
        </p:txBody>
      </p:sp>
      <p:sp>
        <p:nvSpPr>
          <p:cNvPr id="34" name="TextBox 30"/>
          <p:cNvSpPr txBox="1"/>
          <p:nvPr/>
        </p:nvSpPr>
        <p:spPr>
          <a:xfrm>
            <a:off x="1625600" y="2730500"/>
            <a:ext cx="3683000" cy="165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500" spc="-40">
                <a:solidFill>
                  <a:srgbClr val="C6CDD6"/>
                </a:solidFill>
                <a:latin typeface="DM Sans"/>
                <a:ea typeface="DM Sans"/>
                <a:cs typeface="DM Sans"/>
                <a:sym typeface="DM Sans"/>
              </a:rPr>
              <a:t>Cleaning, features, RFM → CSV</a:t>
            </a:r>
          </a:p>
        </p:txBody>
      </p:sp>
      <p:cxnSp>
        <p:nvCxnSpPr>
          <p:cNvPr id="35" name="Connector 60"/>
          <p:cNvCxnSpPr/>
          <p:nvPr/>
        </p:nvCxnSpPr>
        <p:spPr>
          <a:xfrm>
            <a:off x="1625600" y="3340100"/>
            <a:ext cx="3454400" cy="0"/>
          </a:xfrm>
          <a:prstGeom prst="line">
            <a:avLst/>
          </a:prstGeom>
          <a:ln w="9525">
            <a:solidFill>
              <a:srgbClr val="7F85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44"/>
          <p:cNvSpPr txBox="1"/>
          <p:nvPr/>
        </p:nvSpPr>
        <p:spPr>
          <a:xfrm>
            <a:off x="1625600" y="3619500"/>
            <a:ext cx="3810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100" b="1" spc="-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app.py</a:t>
            </a:r>
          </a:p>
        </p:txBody>
      </p:sp>
      <p:sp>
        <p:nvSpPr>
          <p:cNvPr id="37" name="TextBox 30"/>
          <p:cNvSpPr txBox="1"/>
          <p:nvPr/>
        </p:nvSpPr>
        <p:spPr>
          <a:xfrm>
            <a:off x="1625600" y="4000500"/>
            <a:ext cx="3683000" cy="165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500" spc="-40">
                <a:solidFill>
                  <a:srgbClr val="C6CDD6"/>
                </a:solidFill>
                <a:latin typeface="DM Sans"/>
                <a:ea typeface="DM Sans"/>
                <a:cs typeface="DM Sans"/>
                <a:sym typeface="DM Sans"/>
              </a:rPr>
              <a:t>Streamlit dashboard, 7 tabs</a:t>
            </a:r>
          </a:p>
        </p:txBody>
      </p:sp>
      <p:cxnSp>
        <p:nvCxnSpPr>
          <p:cNvPr id="38" name="Connector 61"/>
          <p:cNvCxnSpPr/>
          <p:nvPr/>
        </p:nvCxnSpPr>
        <p:spPr>
          <a:xfrm>
            <a:off x="1625600" y="4610100"/>
            <a:ext cx="3454400" cy="0"/>
          </a:xfrm>
          <a:prstGeom prst="line">
            <a:avLst/>
          </a:prstGeom>
          <a:ln w="9525">
            <a:solidFill>
              <a:srgbClr val="7F85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44"/>
          <p:cNvSpPr txBox="1"/>
          <p:nvPr/>
        </p:nvSpPr>
        <p:spPr>
          <a:xfrm>
            <a:off x="1625600" y="4889500"/>
            <a:ext cx="3810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100" b="1" spc="-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Analytics notebook</a:t>
            </a:r>
          </a:p>
        </p:txBody>
      </p:sp>
      <p:sp>
        <p:nvSpPr>
          <p:cNvPr id="40" name="TextBox 30"/>
          <p:cNvSpPr txBox="1"/>
          <p:nvPr/>
        </p:nvSpPr>
        <p:spPr>
          <a:xfrm>
            <a:off x="1625600" y="5270500"/>
            <a:ext cx="3683000" cy="165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500" spc="-40">
                <a:solidFill>
                  <a:srgbClr val="C6CDD6"/>
                </a:solidFill>
                <a:latin typeface="DM Sans"/>
                <a:ea typeface="DM Sans"/>
                <a:cs typeface="DM Sans"/>
                <a:sym typeface="DM Sans"/>
              </a:rPr>
              <a:t>Step-by-step DAV practicals</a:t>
            </a:r>
          </a:p>
        </p:txBody>
      </p:sp>
      <p:sp>
        <p:nvSpPr>
          <p:cNvPr id="41" name="TextBox 44"/>
          <p:cNvSpPr txBox="1"/>
          <p:nvPr/>
        </p:nvSpPr>
        <p:spPr>
          <a:xfrm>
            <a:off x="10731500" y="1905000"/>
            <a:ext cx="69215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400" b="1" spc="-10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Dashboard Features</a:t>
            </a:r>
          </a:p>
        </p:txBody>
      </p:sp>
      <p:sp>
        <p:nvSpPr>
          <p:cNvPr id="42" name="TextBox 39"/>
          <p:cNvSpPr txBox="1"/>
          <p:nvPr/>
        </p:nvSpPr>
        <p:spPr>
          <a:xfrm>
            <a:off x="10731500" y="2387600"/>
            <a:ext cx="6921500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Cached loading (@st.cache_data) in fast 100k-sample or full 1M-row mode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5 global filters: year, date range, country, category, RFM segment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6 KPI cards: revenue, orders, customers, AOV, on-time rate, avg review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5 animated charts with ▶ Play: revenue build-up, category race, world map, weekday hours, ARIMA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10665750" y="5468640"/>
            <a:ext cx="69215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400" b="1" spc="-100" dirty="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7 Analytics Tabs</a:t>
            </a:r>
          </a:p>
        </p:txBody>
      </p:sp>
      <p:sp>
        <p:nvSpPr>
          <p:cNvPr id="44" name="TextBox 39"/>
          <p:cNvSpPr txBox="1"/>
          <p:nvPr/>
        </p:nvSpPr>
        <p:spPr>
          <a:xfrm>
            <a:off x="10779082" y="6072506"/>
            <a:ext cx="6921500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Revenue: monthly trend, order-value histogram, top 10 products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Categories: share bar, donut chart, units vs revenue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Locations: world choropleth map, top export markets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Delivery: status donut, transit histogram, country box plots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Reviews: star breakdown, review classes, delay vs rating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Trends: 24-hour velocity, weekday sales, RFM segments</a:t>
            </a:r>
          </a:p>
          <a:p>
            <a:pPr marL="177800" indent="-177800" algn="l"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Forecasting &amp; ML: SMA / EMA, ARIMA forecast, heatmap, regression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4000" y="1863764"/>
            <a:ext cx="15240000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8400" b="0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Dashboard </a:t>
            </a:r>
            <a:r>
              <a:rPr lang="en-US" sz="8400" b="1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Screenshots</a:t>
            </a:r>
          </a:p>
        </p:txBody>
      </p:sp>
      <p:grpSp>
        <p:nvGrpSpPr>
          <p:cNvPr id="19" name="Group 111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20" name="Freeform 112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113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114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23" name="Freeform 115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116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117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6" name="AutoShape 60"/>
          <p:cNvSpPr/>
          <p:nvPr/>
        </p:nvSpPr>
        <p:spPr>
          <a:xfrm>
            <a:off x="8202930" y="1003300"/>
            <a:ext cx="1145539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Rounded Rectangle 117"/>
          <p:cNvSpPr/>
          <p:nvPr/>
        </p:nvSpPr>
        <p:spPr>
          <a:xfrm>
            <a:off x="1511300" y="3528251"/>
            <a:ext cx="5041900" cy="2011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6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118" descr="month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3604451"/>
            <a:ext cx="4889500" cy="1858896"/>
          </a:xfrm>
          <a:prstGeom prst="rect">
            <a:avLst/>
          </a:prstGeom>
        </p:spPr>
      </p:pic>
      <p:sp>
        <p:nvSpPr>
          <p:cNvPr id="29" name="TextBox 44"/>
          <p:cNvSpPr txBox="1"/>
          <p:nvPr/>
        </p:nvSpPr>
        <p:spPr>
          <a:xfrm>
            <a:off x="1587500" y="6070600"/>
            <a:ext cx="48895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200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Monthly Sales Trend</a:t>
            </a:r>
          </a:p>
        </p:txBody>
      </p:sp>
      <p:sp>
        <p:nvSpPr>
          <p:cNvPr id="30" name="TextBox 39"/>
          <p:cNvSpPr txBox="1"/>
          <p:nvPr/>
        </p:nvSpPr>
        <p:spPr>
          <a:xfrm>
            <a:off x="1587500" y="6502400"/>
            <a:ext cx="48895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Animated build-up of monthly revenue for 2009–2011. Clear peaks every November show strong seasonal demand.</a:t>
            </a:r>
          </a:p>
        </p:txBody>
      </p:sp>
      <p:sp>
        <p:nvSpPr>
          <p:cNvPr id="31" name="Rounded Rectangle 119"/>
          <p:cNvSpPr/>
          <p:nvPr/>
        </p:nvSpPr>
        <p:spPr>
          <a:xfrm>
            <a:off x="6832853" y="3251200"/>
            <a:ext cx="4685793" cy="2565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6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120" descr="r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053" y="3327400"/>
            <a:ext cx="4533393" cy="2413000"/>
          </a:xfrm>
          <a:prstGeom prst="rect">
            <a:avLst/>
          </a:prstGeom>
        </p:spPr>
      </p:pic>
      <p:sp>
        <p:nvSpPr>
          <p:cNvPr id="33" name="TextBox 44"/>
          <p:cNvSpPr txBox="1"/>
          <p:nvPr/>
        </p:nvSpPr>
        <p:spPr>
          <a:xfrm>
            <a:off x="6731000" y="6070600"/>
            <a:ext cx="48895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200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Category Revenue Race</a:t>
            </a:r>
          </a:p>
        </p:txBody>
      </p:sp>
      <p:sp>
        <p:nvSpPr>
          <p:cNvPr id="34" name="TextBox 39"/>
          <p:cNvSpPr txBox="1"/>
          <p:nvPr/>
        </p:nvSpPr>
        <p:spPr>
          <a:xfrm>
            <a:off x="6731000" y="6502400"/>
            <a:ext cx="48895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Animated race of cumulative revenue by category, month by month. Home &amp; Living leads the named categories.</a:t>
            </a:r>
          </a:p>
        </p:txBody>
      </p:sp>
      <p:sp>
        <p:nvSpPr>
          <p:cNvPr id="35" name="Rounded Rectangle 121"/>
          <p:cNvSpPr/>
          <p:nvPr/>
        </p:nvSpPr>
        <p:spPr>
          <a:xfrm>
            <a:off x="11976353" y="3251200"/>
            <a:ext cx="4685793" cy="2565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6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122" descr="ari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2553" y="3327400"/>
            <a:ext cx="4533393" cy="2413000"/>
          </a:xfrm>
          <a:prstGeom prst="rect">
            <a:avLst/>
          </a:prstGeom>
        </p:spPr>
      </p:pic>
      <p:sp>
        <p:nvSpPr>
          <p:cNvPr id="37" name="TextBox 44"/>
          <p:cNvSpPr txBox="1"/>
          <p:nvPr/>
        </p:nvSpPr>
        <p:spPr>
          <a:xfrm>
            <a:off x="11874500" y="6070600"/>
            <a:ext cx="48895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200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ARIMA Revenue Forecast</a:t>
            </a:r>
          </a:p>
        </p:txBody>
      </p:sp>
      <p:sp>
        <p:nvSpPr>
          <p:cNvPr id="38" name="TextBox 39"/>
          <p:cNvSpPr txBox="1"/>
          <p:nvPr/>
        </p:nvSpPr>
        <p:spPr>
          <a:xfrm>
            <a:off x="11874500" y="6502400"/>
            <a:ext cx="48895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ARIMA(1,1,1) 14-day forecast that draws itself step by step, with a 95% confidence band (DAV Practical 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4000" y="7302500"/>
            <a:ext cx="11430000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7200" b="0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Results &amp; </a:t>
            </a:r>
            <a:r>
              <a:rPr lang="en-US" sz="7200" b="1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Discussion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21" name="Freeform 20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24" name="Freeform 23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224000" y="1892662"/>
            <a:ext cx="8522646" cy="4622819"/>
            <a:chOff x="0" y="0"/>
            <a:chExt cx="2244647" cy="1217533"/>
          </a:xfrm>
        </p:grpSpPr>
        <p:sp>
          <p:nvSpPr>
            <p:cNvPr id="27" name="Freeform 26"/>
            <p:cNvSpPr/>
            <p:nvPr/>
          </p:nvSpPr>
          <p:spPr>
            <a:xfrm>
              <a:off x="0" y="0"/>
              <a:ext cx="2244647" cy="1217533"/>
            </a:xfrm>
            <a:custGeom>
              <a:avLst/>
              <a:gdLst/>
              <a:ahLst/>
              <a:cxnLst/>
              <a:rect l="l" t="t" r="r" b="b"/>
              <a:pathLst>
                <a:path w="2244647" h="1217533">
                  <a:moveTo>
                    <a:pt x="29069" y="0"/>
                  </a:moveTo>
                  <a:lnTo>
                    <a:pt x="2215579" y="0"/>
                  </a:lnTo>
                  <a:cubicBezTo>
                    <a:pt x="2231633" y="0"/>
                    <a:pt x="2244647" y="13014"/>
                    <a:pt x="2244647" y="29069"/>
                  </a:cubicBezTo>
                  <a:lnTo>
                    <a:pt x="2244647" y="1188464"/>
                  </a:lnTo>
                  <a:cubicBezTo>
                    <a:pt x="2244647" y="1196173"/>
                    <a:pt x="2241585" y="1203567"/>
                    <a:pt x="2236133" y="1209019"/>
                  </a:cubicBezTo>
                  <a:cubicBezTo>
                    <a:pt x="2230682" y="1214470"/>
                    <a:pt x="2223288" y="1217533"/>
                    <a:pt x="2215579" y="1217533"/>
                  </a:cubicBezTo>
                  <a:lnTo>
                    <a:pt x="29069" y="1217533"/>
                  </a:lnTo>
                  <a:cubicBezTo>
                    <a:pt x="21359" y="1217533"/>
                    <a:pt x="13965" y="1214470"/>
                    <a:pt x="8514" y="1209019"/>
                  </a:cubicBezTo>
                  <a:cubicBezTo>
                    <a:pt x="3063" y="1203567"/>
                    <a:pt x="0" y="1196173"/>
                    <a:pt x="0" y="1188464"/>
                  </a:cubicBezTo>
                  <a:lnTo>
                    <a:pt x="0" y="29069"/>
                  </a:lnTo>
                  <a:cubicBezTo>
                    <a:pt x="0" y="21359"/>
                    <a:pt x="3063" y="13965"/>
                    <a:pt x="8514" y="8514"/>
                  </a:cubicBezTo>
                  <a:cubicBezTo>
                    <a:pt x="13965" y="3063"/>
                    <a:pt x="21359" y="0"/>
                    <a:pt x="2906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0" y="-38100"/>
              <a:ext cx="2244647" cy="1255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00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649733" y="2349500"/>
            <a:ext cx="4096912" cy="9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6000" spc="-3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£20.97M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49733" y="3492500"/>
            <a:ext cx="349426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net revenue from 40,077 orders by 5,878 customers in 43 countries. The UK drives 85% of sales.</a:t>
            </a:r>
          </a:p>
        </p:txBody>
      </p:sp>
      <p:sp>
        <p:nvSpPr>
          <p:cNvPr id="31" name="Freeform 32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2" name="AutoShape 60"/>
          <p:cNvSpPr/>
          <p:nvPr/>
        </p:nvSpPr>
        <p:spPr>
          <a:xfrm>
            <a:off x="10246360" y="1003300"/>
            <a:ext cx="728979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Box 44"/>
          <p:cNvSpPr txBox="1"/>
          <p:nvPr/>
        </p:nvSpPr>
        <p:spPr>
          <a:xfrm>
            <a:off x="1625600" y="2286000"/>
            <a:ext cx="3810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400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Metrics</a:t>
            </a:r>
          </a:p>
        </p:txBody>
      </p:sp>
      <p:sp>
        <p:nvSpPr>
          <p:cNvPr id="34" name="TextBox 39"/>
          <p:cNvSpPr txBox="1"/>
          <p:nvPr/>
        </p:nvSpPr>
        <p:spPr>
          <a:xfrm>
            <a:off x="1625600" y="2819400"/>
            <a:ext cx="3683000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Orders: 40,077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Customers: 5,878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Countries: 43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Avg order value: £523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On-time delivery: 71.7%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Average rating: 4.27 / 5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Cancelled lines: 1.8%</a:t>
            </a:r>
          </a:p>
        </p:txBody>
      </p:sp>
      <p:sp>
        <p:nvSpPr>
          <p:cNvPr id="35" name="TextBox 44"/>
          <p:cNvSpPr txBox="1"/>
          <p:nvPr/>
        </p:nvSpPr>
        <p:spPr>
          <a:xfrm>
            <a:off x="10731500" y="1905000"/>
            <a:ext cx="69215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400" b="1" spc="-10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Discussion</a:t>
            </a:r>
          </a:p>
        </p:txBody>
      </p:sp>
      <p:sp>
        <p:nvSpPr>
          <p:cNvPr id="36" name="TextBox 39"/>
          <p:cNvSpPr txBox="1"/>
          <p:nvPr/>
        </p:nvSpPr>
        <p:spPr>
          <a:xfrm>
            <a:off x="10731500" y="2387600"/>
            <a:ext cx="6921500" cy="530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Seasonality: revenue peaks every November (£1.47M in 2010, £1.51M in 2011), so stock and staff should be planned before Q4.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Geography: the UK brings 85.2% of revenue; EIRE, the Netherlands and Germany are the strongest export markets.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Categories: Home &amp; Living (24.8%) and Kitchen &amp; Dining (18.3%) lead the named product categories.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Delivery: 71.7% of orders arrive on time, and ratings fall sharply when deliveries are late.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Timing: buying peaks at 12:00 and on Thursdays; Saturday has almost no sales.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Customers: 1,174 Champions vs 2,045 hibernating buyers, a clear target for win-back campaigns.</a:t>
            </a:r>
          </a:p>
          <a:p>
            <a:pPr marL="177800" indent="-177800" algn="l">
              <a:spcAft>
                <a:spcPts val="5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Forecasting: ARIMA(1,1,1) gives a short-term revenue outlook with a 95% confidence band.</a:t>
            </a:r>
          </a:p>
        </p:txBody>
      </p:sp>
      <p:sp>
        <p:nvSpPr>
          <p:cNvPr id="37" name="TextBox 39"/>
          <p:cNvSpPr txBox="1"/>
          <p:nvPr/>
        </p:nvSpPr>
        <p:spPr>
          <a:xfrm>
            <a:off x="10758982" y="8215571"/>
            <a:ext cx="6921500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pc="-40" dirty="0">
                <a:solidFill>
                  <a:srgbClr val="7F858D"/>
                </a:solidFill>
                <a:latin typeface="DM Sans"/>
                <a:ea typeface="DM Sans"/>
                <a:cs typeface="DM Sans"/>
                <a:sym typeface="DM Sans"/>
              </a:rPr>
              <a:t>Delivery and review values are simulated in the pipeline; Dec-2011 is a partial month (data ends 9 Dec).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12" name="Freeform 11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15" name="Freeform 14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4000" y="5365356"/>
            <a:ext cx="7136838" cy="3457149"/>
            <a:chOff x="0" y="0"/>
            <a:chExt cx="1879661" cy="9105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79661" cy="910525"/>
            </a:xfrm>
            <a:custGeom>
              <a:avLst/>
              <a:gdLst/>
              <a:ahLst/>
              <a:cxnLst/>
              <a:rect l="l" t="t" r="r" b="b"/>
              <a:pathLst>
                <a:path w="1879661" h="910525">
                  <a:moveTo>
                    <a:pt x="34713" y="0"/>
                  </a:moveTo>
                  <a:lnTo>
                    <a:pt x="1844948" y="0"/>
                  </a:lnTo>
                  <a:cubicBezTo>
                    <a:pt x="1854154" y="0"/>
                    <a:pt x="1862984" y="3657"/>
                    <a:pt x="1869494" y="10167"/>
                  </a:cubicBezTo>
                  <a:cubicBezTo>
                    <a:pt x="1876004" y="16677"/>
                    <a:pt x="1879661" y="25507"/>
                    <a:pt x="1879661" y="34713"/>
                  </a:cubicBezTo>
                  <a:lnTo>
                    <a:pt x="1879661" y="875812"/>
                  </a:lnTo>
                  <a:cubicBezTo>
                    <a:pt x="1879661" y="894983"/>
                    <a:pt x="1864120" y="910525"/>
                    <a:pt x="1844948" y="910525"/>
                  </a:cubicBezTo>
                  <a:lnTo>
                    <a:pt x="34713" y="910525"/>
                  </a:lnTo>
                  <a:cubicBezTo>
                    <a:pt x="25507" y="910525"/>
                    <a:pt x="16677" y="906868"/>
                    <a:pt x="10167" y="900358"/>
                  </a:cubicBezTo>
                  <a:cubicBezTo>
                    <a:pt x="3657" y="893848"/>
                    <a:pt x="0" y="885018"/>
                    <a:pt x="0" y="875812"/>
                  </a:cubicBezTo>
                  <a:lnTo>
                    <a:pt x="0" y="34713"/>
                  </a:lnTo>
                  <a:cubicBezTo>
                    <a:pt x="0" y="25507"/>
                    <a:pt x="3657" y="16677"/>
                    <a:pt x="10167" y="10167"/>
                  </a:cubicBezTo>
                  <a:cubicBezTo>
                    <a:pt x="16677" y="3657"/>
                    <a:pt x="25507" y="0"/>
                    <a:pt x="34713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79661" cy="94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2"/>
          <p:cNvGrpSpPr/>
          <p:nvPr/>
        </p:nvGrpSpPr>
        <p:grpSpPr>
          <a:xfrm>
            <a:off x="8846613" y="5784697"/>
            <a:ext cx="6787383" cy="3037809"/>
            <a:chOff x="0" y="0"/>
            <a:chExt cx="1787623" cy="800081"/>
          </a:xfrm>
        </p:grpSpPr>
        <p:sp>
          <p:nvSpPr>
            <p:cNvPr id="21" name="Freeform 23"/>
            <p:cNvSpPr/>
            <p:nvPr/>
          </p:nvSpPr>
          <p:spPr>
            <a:xfrm>
              <a:off x="0" y="0"/>
              <a:ext cx="1787623" cy="800081"/>
            </a:xfrm>
            <a:custGeom>
              <a:avLst/>
              <a:gdLst/>
              <a:ahLst/>
              <a:cxnLst/>
              <a:rect l="l" t="t" r="r" b="b"/>
              <a:pathLst>
                <a:path w="1787623" h="800081">
                  <a:moveTo>
                    <a:pt x="36500" y="0"/>
                  </a:moveTo>
                  <a:lnTo>
                    <a:pt x="1751123" y="0"/>
                  </a:lnTo>
                  <a:cubicBezTo>
                    <a:pt x="1771282" y="0"/>
                    <a:pt x="1787623" y="16342"/>
                    <a:pt x="1787623" y="36500"/>
                  </a:cubicBezTo>
                  <a:lnTo>
                    <a:pt x="1787623" y="763581"/>
                  </a:lnTo>
                  <a:cubicBezTo>
                    <a:pt x="1787623" y="783740"/>
                    <a:pt x="1771282" y="800081"/>
                    <a:pt x="1751123" y="800081"/>
                  </a:cubicBezTo>
                  <a:lnTo>
                    <a:pt x="36500" y="800081"/>
                  </a:lnTo>
                  <a:cubicBezTo>
                    <a:pt x="16342" y="800081"/>
                    <a:pt x="0" y="783740"/>
                    <a:pt x="0" y="763581"/>
                  </a:cubicBezTo>
                  <a:lnTo>
                    <a:pt x="0" y="36500"/>
                  </a:lnTo>
                  <a:cubicBezTo>
                    <a:pt x="0" y="16342"/>
                    <a:pt x="16342" y="0"/>
                    <a:pt x="36500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4"/>
            <p:cNvSpPr txBox="1"/>
            <p:nvPr/>
          </p:nvSpPr>
          <p:spPr>
            <a:xfrm>
              <a:off x="0" y="-38100"/>
              <a:ext cx="1787623" cy="83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5"/>
          <p:cNvGrpSpPr/>
          <p:nvPr/>
        </p:nvGrpSpPr>
        <p:grpSpPr>
          <a:xfrm>
            <a:off x="7633513" y="5803527"/>
            <a:ext cx="294514" cy="294514"/>
            <a:chOff x="0" y="0"/>
            <a:chExt cx="812800" cy="812800"/>
          </a:xfrm>
        </p:grpSpPr>
        <p:sp>
          <p:nvSpPr>
            <p:cNvPr id="24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8"/>
          <p:cNvSpPr txBox="1"/>
          <p:nvPr/>
        </p:nvSpPr>
        <p:spPr>
          <a:xfrm>
            <a:off x="1224000" y="2170806"/>
            <a:ext cx="6884963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8800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Advantages &amp;</a:t>
            </a:r>
          </a:p>
        </p:txBody>
      </p:sp>
      <p:sp>
        <p:nvSpPr>
          <p:cNvPr id="27" name="TextBox 29"/>
          <p:cNvSpPr txBox="1"/>
          <p:nvPr/>
        </p:nvSpPr>
        <p:spPr>
          <a:xfrm>
            <a:off x="1908796" y="3327400"/>
            <a:ext cx="8890000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8800" b="1" spc="-42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Applications</a:t>
            </a:r>
          </a:p>
        </p:txBody>
      </p:sp>
      <p:sp>
        <p:nvSpPr>
          <p:cNvPr id="28" name="TextBox 30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29" name="TextBox 31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30" name="TextBox 32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31" name="TextBox 33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32" name="TextBox 34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33" name="TextBox 35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34" name="TextBox 36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35" name="TextBox 37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36" name="TextBox 38"/>
          <p:cNvSpPr txBox="1"/>
          <p:nvPr/>
        </p:nvSpPr>
        <p:spPr>
          <a:xfrm>
            <a:off x="1659293" y="6324600"/>
            <a:ext cx="5969000" cy="195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lnSpc>
                <a:spcPts val="2176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Insight from 1M+ rows in seconds (cached sample)</a:t>
            </a:r>
          </a:p>
          <a:p>
            <a:pPr marL="177800" indent="-177800" algn="l">
              <a:lnSpc>
                <a:spcPts val="2176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live filters update every KPI and chart</a:t>
            </a:r>
          </a:p>
          <a:p>
            <a:pPr marL="177800" indent="-177800" algn="l">
              <a:lnSpc>
                <a:spcPts val="2176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Open-source stack with zero </a:t>
            </a:r>
            <a:r>
              <a:rPr lang="en-US" sz="2000" spc="-4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licence</a:t>
            </a: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cost</a:t>
            </a:r>
          </a:p>
          <a:p>
            <a:pPr marL="177800" indent="-177800" algn="l">
              <a:lnSpc>
                <a:spcPts val="2176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Reproducible pipeline (fixed random seed 42)</a:t>
            </a:r>
          </a:p>
          <a:p>
            <a:pPr marL="177800" indent="-177800" algn="l">
              <a:lnSpc>
                <a:spcPts val="2176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Runs on an ordinary laptop in any browser</a:t>
            </a:r>
          </a:p>
          <a:p>
            <a:pPr marL="177800" indent="-177800" algn="l">
              <a:lnSpc>
                <a:spcPts val="2176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Easy to extend with new tabs and models</a:t>
            </a:r>
          </a:p>
        </p:txBody>
      </p:sp>
      <p:sp>
        <p:nvSpPr>
          <p:cNvPr id="37" name="TextBox 39"/>
          <p:cNvSpPr txBox="1"/>
          <p:nvPr/>
        </p:nvSpPr>
        <p:spPr>
          <a:xfrm>
            <a:off x="9560020" y="7342509"/>
            <a:ext cx="5175996" cy="113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Usable by any online store for Q4 stock planning, targeted RFM campaigns, delivery SLA monitoring and short-term sales forecasting.</a:t>
            </a:r>
          </a:p>
        </p:txBody>
      </p:sp>
      <p:sp>
        <p:nvSpPr>
          <p:cNvPr id="38" name="TextBox 40"/>
          <p:cNvSpPr txBox="1"/>
          <p:nvPr/>
        </p:nvSpPr>
        <p:spPr>
          <a:xfrm>
            <a:off x="9560020" y="6041100"/>
            <a:ext cx="3246396" cy="105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4399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Retail BI</a:t>
            </a:r>
          </a:p>
          <a:p>
            <a:pPr marL="474978" lvl="1" indent="-237489" algn="l">
              <a:lnSpc>
                <a:spcPts val="4399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Logistics</a:t>
            </a:r>
          </a:p>
        </p:txBody>
      </p:sp>
      <p:sp>
        <p:nvSpPr>
          <p:cNvPr id="39" name="TextBox 41"/>
          <p:cNvSpPr txBox="1"/>
          <p:nvPr/>
        </p:nvSpPr>
        <p:spPr>
          <a:xfrm>
            <a:off x="11977852" y="6041100"/>
            <a:ext cx="3246396" cy="105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4399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Marketing</a:t>
            </a:r>
          </a:p>
          <a:p>
            <a:pPr marL="474978" lvl="1" indent="-237489" algn="l">
              <a:lnSpc>
                <a:spcPts val="4399"/>
              </a:lnSpc>
              <a:buFont typeface="Arial"/>
              <a:buChar char="•"/>
            </a:pPr>
            <a:r>
              <a:rPr lang="en-US" sz="2199" b="1" spc="-5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Forecasting</a:t>
            </a:r>
          </a:p>
        </p:txBody>
      </p:sp>
      <p:sp>
        <p:nvSpPr>
          <p:cNvPr id="40" name="TextBox 43"/>
          <p:cNvSpPr txBox="1"/>
          <p:nvPr/>
        </p:nvSpPr>
        <p:spPr>
          <a:xfrm>
            <a:off x="1659293" y="5860897"/>
            <a:ext cx="4697865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Advantages</a:t>
            </a:r>
          </a:p>
        </p:txBody>
      </p:sp>
      <p:sp>
        <p:nvSpPr>
          <p:cNvPr id="41" name="Freeform 44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2" name="AutoShape 60"/>
          <p:cNvSpPr/>
          <p:nvPr/>
        </p:nvSpPr>
        <p:spPr>
          <a:xfrm>
            <a:off x="10246360" y="1003300"/>
            <a:ext cx="728979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Box 44"/>
          <p:cNvSpPr txBox="1"/>
          <p:nvPr/>
        </p:nvSpPr>
        <p:spPr>
          <a:xfrm>
            <a:off x="10731500" y="1905000"/>
            <a:ext cx="6604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600" b="1" spc="-10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Who Benefits</a:t>
            </a:r>
          </a:p>
        </p:txBody>
      </p:sp>
      <p:sp>
        <p:nvSpPr>
          <p:cNvPr id="44" name="TextBox 39"/>
          <p:cNvSpPr txBox="1"/>
          <p:nvPr/>
        </p:nvSpPr>
        <p:spPr>
          <a:xfrm>
            <a:off x="10731500" y="2489200"/>
            <a:ext cx="660400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Store managers: revenue, orders and KPIs in one place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Marketing teams: target Champions, win back hibernating buyers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Logistics teams: monitor on-time rate and delays by country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Inventory planners: prepare stock ahead of November peaks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Students: a worked example of the full DAV syllabus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AutoShape 3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4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8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-1799103" y="9186939"/>
            <a:ext cx="5316075" cy="1969184"/>
            <a:chOff x="0" y="0"/>
            <a:chExt cx="1400119" cy="518633"/>
          </a:xfrm>
        </p:grpSpPr>
        <p:sp>
          <p:nvSpPr>
            <p:cNvPr id="12" name="Freeform 11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-4806286" y="9758439"/>
            <a:ext cx="17800010" cy="2065376"/>
            <a:chOff x="0" y="0"/>
            <a:chExt cx="4688069" cy="543967"/>
          </a:xfrm>
        </p:grpSpPr>
        <p:sp>
          <p:nvSpPr>
            <p:cNvPr id="15" name="Freeform 14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224000" y="1682288"/>
            <a:ext cx="6912123" cy="2148891"/>
            <a:chOff x="0" y="0"/>
            <a:chExt cx="1820477" cy="565963"/>
          </a:xfrm>
        </p:grpSpPr>
        <p:sp>
          <p:nvSpPr>
            <p:cNvPr id="18" name="Freeform 17"/>
            <p:cNvSpPr/>
            <p:nvPr/>
          </p:nvSpPr>
          <p:spPr>
            <a:xfrm>
              <a:off x="0" y="0"/>
              <a:ext cx="1820477" cy="565963"/>
            </a:xfrm>
            <a:custGeom>
              <a:avLst/>
              <a:gdLst/>
              <a:ahLst/>
              <a:cxnLst/>
              <a:rect l="l" t="t" r="r" b="b"/>
              <a:pathLst>
                <a:path w="1820477" h="565963">
                  <a:moveTo>
                    <a:pt x="35842" y="0"/>
                  </a:moveTo>
                  <a:lnTo>
                    <a:pt x="1784635" y="0"/>
                  </a:lnTo>
                  <a:cubicBezTo>
                    <a:pt x="1794141" y="0"/>
                    <a:pt x="1803258" y="3776"/>
                    <a:pt x="1809979" y="10498"/>
                  </a:cubicBezTo>
                  <a:cubicBezTo>
                    <a:pt x="1816701" y="17219"/>
                    <a:pt x="1820477" y="26336"/>
                    <a:pt x="1820477" y="35842"/>
                  </a:cubicBezTo>
                  <a:lnTo>
                    <a:pt x="1820477" y="530122"/>
                  </a:lnTo>
                  <a:cubicBezTo>
                    <a:pt x="1820477" y="549916"/>
                    <a:pt x="1804430" y="565963"/>
                    <a:pt x="1784635" y="565963"/>
                  </a:cubicBezTo>
                  <a:lnTo>
                    <a:pt x="35842" y="565963"/>
                  </a:lnTo>
                  <a:cubicBezTo>
                    <a:pt x="26336" y="565963"/>
                    <a:pt x="17219" y="562187"/>
                    <a:pt x="10498" y="555465"/>
                  </a:cubicBezTo>
                  <a:cubicBezTo>
                    <a:pt x="3776" y="548744"/>
                    <a:pt x="0" y="539627"/>
                    <a:pt x="0" y="530122"/>
                  </a:cubicBezTo>
                  <a:lnTo>
                    <a:pt x="0" y="35842"/>
                  </a:lnTo>
                  <a:cubicBezTo>
                    <a:pt x="0" y="26336"/>
                    <a:pt x="3776" y="17219"/>
                    <a:pt x="10498" y="10498"/>
                  </a:cubicBezTo>
                  <a:cubicBezTo>
                    <a:pt x="17219" y="3776"/>
                    <a:pt x="26336" y="0"/>
                    <a:pt x="3584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0" y="-38100"/>
              <a:ext cx="1820477" cy="604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572046" y="2145950"/>
            <a:ext cx="294514" cy="294514"/>
            <a:chOff x="0" y="0"/>
            <a:chExt cx="812800" cy="812800"/>
          </a:xfrm>
        </p:grpSpPr>
        <p:sp>
          <p:nvSpPr>
            <p:cNvPr id="21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224000" y="6322970"/>
            <a:ext cx="6912123" cy="2148891"/>
            <a:chOff x="0" y="0"/>
            <a:chExt cx="1820477" cy="565963"/>
          </a:xfrm>
        </p:grpSpPr>
        <p:sp>
          <p:nvSpPr>
            <p:cNvPr id="24" name="Freeform 23"/>
            <p:cNvSpPr/>
            <p:nvPr/>
          </p:nvSpPr>
          <p:spPr>
            <a:xfrm>
              <a:off x="0" y="0"/>
              <a:ext cx="1820477" cy="565963"/>
            </a:xfrm>
            <a:custGeom>
              <a:avLst/>
              <a:gdLst/>
              <a:ahLst/>
              <a:cxnLst/>
              <a:rect l="l" t="t" r="r" b="b"/>
              <a:pathLst>
                <a:path w="1820477" h="565963">
                  <a:moveTo>
                    <a:pt x="35842" y="0"/>
                  </a:moveTo>
                  <a:lnTo>
                    <a:pt x="1784635" y="0"/>
                  </a:lnTo>
                  <a:cubicBezTo>
                    <a:pt x="1794141" y="0"/>
                    <a:pt x="1803258" y="3776"/>
                    <a:pt x="1809979" y="10498"/>
                  </a:cubicBezTo>
                  <a:cubicBezTo>
                    <a:pt x="1816701" y="17219"/>
                    <a:pt x="1820477" y="26336"/>
                    <a:pt x="1820477" y="35842"/>
                  </a:cubicBezTo>
                  <a:lnTo>
                    <a:pt x="1820477" y="530122"/>
                  </a:lnTo>
                  <a:cubicBezTo>
                    <a:pt x="1820477" y="549916"/>
                    <a:pt x="1804430" y="565963"/>
                    <a:pt x="1784635" y="565963"/>
                  </a:cubicBezTo>
                  <a:lnTo>
                    <a:pt x="35842" y="565963"/>
                  </a:lnTo>
                  <a:cubicBezTo>
                    <a:pt x="26336" y="565963"/>
                    <a:pt x="17219" y="562187"/>
                    <a:pt x="10498" y="555465"/>
                  </a:cubicBezTo>
                  <a:cubicBezTo>
                    <a:pt x="3776" y="548744"/>
                    <a:pt x="0" y="539627"/>
                    <a:pt x="0" y="530122"/>
                  </a:cubicBezTo>
                  <a:lnTo>
                    <a:pt x="0" y="35842"/>
                  </a:lnTo>
                  <a:cubicBezTo>
                    <a:pt x="0" y="26336"/>
                    <a:pt x="3776" y="17219"/>
                    <a:pt x="10498" y="10498"/>
                  </a:cubicBezTo>
                  <a:cubicBezTo>
                    <a:pt x="17219" y="3776"/>
                    <a:pt x="26336" y="0"/>
                    <a:pt x="3584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0" y="-38100"/>
              <a:ext cx="1820477" cy="604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572046" y="6786632"/>
            <a:ext cx="294514" cy="294514"/>
            <a:chOff x="0" y="0"/>
            <a:chExt cx="812800" cy="812800"/>
          </a:xfrm>
        </p:grpSpPr>
        <p:sp>
          <p:nvSpPr>
            <p:cNvPr id="27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85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30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30" name="TextBox 31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32" name="TextBox 33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33" name="TextBox 34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34" name="TextBox 35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35" name="TextBox 36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36" name="TextBox 37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10618618" y="1905000"/>
            <a:ext cx="7170256" cy="13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7600" spc="-428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Conclusion &amp;</a:t>
            </a:r>
          </a:p>
        </p:txBody>
      </p:sp>
      <p:sp>
        <p:nvSpPr>
          <p:cNvPr id="38" name="TextBox 39"/>
          <p:cNvSpPr txBox="1"/>
          <p:nvPr/>
        </p:nvSpPr>
        <p:spPr>
          <a:xfrm>
            <a:off x="10617200" y="3009900"/>
            <a:ext cx="7620000" cy="132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7600" b="1" spc="-428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Future Scope</a:t>
            </a:r>
          </a:p>
        </p:txBody>
      </p:sp>
      <p:sp>
        <p:nvSpPr>
          <p:cNvPr id="39" name="TextBox 42"/>
          <p:cNvSpPr txBox="1"/>
          <p:nvPr/>
        </p:nvSpPr>
        <p:spPr>
          <a:xfrm>
            <a:off x="1536702" y="2631008"/>
            <a:ext cx="6350122" cy="113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cleaned 1.06M transactions and built a 7-tab dashboard showing where revenue comes from, how delivery affects ratings and which customers need attention.</a:t>
            </a:r>
          </a:p>
        </p:txBody>
      </p:sp>
      <p:sp>
        <p:nvSpPr>
          <p:cNvPr id="40" name="TextBox 43"/>
          <p:cNvSpPr txBox="1"/>
          <p:nvPr/>
        </p:nvSpPr>
        <p:spPr>
          <a:xfrm>
            <a:off x="1536702" y="2178762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</p:txBody>
      </p:sp>
      <p:sp>
        <p:nvSpPr>
          <p:cNvPr id="41" name="TextBox 44"/>
          <p:cNvSpPr txBox="1"/>
          <p:nvPr/>
        </p:nvSpPr>
        <p:spPr>
          <a:xfrm>
            <a:off x="1536702" y="7271690"/>
            <a:ext cx="6350122" cy="84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Connect to a live database or API, add churn prediction and product recommendations, use real delivery and review data, and deploy on </a:t>
            </a:r>
            <a:r>
              <a:rPr lang="en-US" sz="2000" spc="-4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2000" spc="-4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Cloud.</a:t>
            </a:r>
          </a:p>
        </p:txBody>
      </p:sp>
      <p:sp>
        <p:nvSpPr>
          <p:cNvPr id="42" name="TextBox 45"/>
          <p:cNvSpPr txBox="1"/>
          <p:nvPr/>
        </p:nvSpPr>
        <p:spPr>
          <a:xfrm>
            <a:off x="1536702" y="6819444"/>
            <a:ext cx="338769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6"/>
              </a:lnSpc>
            </a:pPr>
            <a:r>
              <a:rPr lang="en-US" sz="2507" b="1" spc="-100">
                <a:solidFill>
                  <a:srgbClr val="F8F7F0"/>
                </a:solidFill>
                <a:latin typeface="TT Hoves Bold"/>
                <a:ea typeface="TT Hoves Bold"/>
                <a:cs typeface="TT Hoves Bold"/>
                <a:sym typeface="TT Hoves Bold"/>
              </a:rPr>
              <a:t>Future Scope</a:t>
            </a:r>
          </a:p>
        </p:txBody>
      </p:sp>
      <p:sp>
        <p:nvSpPr>
          <p:cNvPr id="43" name="Freeform 46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4" name="AutoShape 60"/>
          <p:cNvSpPr/>
          <p:nvPr/>
        </p:nvSpPr>
        <p:spPr>
          <a:xfrm>
            <a:off x="11931650" y="1003300"/>
            <a:ext cx="1041400" cy="0"/>
          </a:xfrm>
          <a:prstGeom prst="line">
            <a:avLst/>
          </a:prstGeom>
          <a:ln w="19050" cap="flat">
            <a:solidFill>
              <a:srgbClr val="7F85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5" name="Rounded Rectangle 60"/>
          <p:cNvSpPr/>
          <p:nvPr/>
        </p:nvSpPr>
        <p:spPr>
          <a:xfrm>
            <a:off x="1219200" y="4000500"/>
            <a:ext cx="6908800" cy="2146300"/>
          </a:xfrm>
          <a:prstGeom prst="roundRect">
            <a:avLst>
              <a:gd name="adj" fmla="val 6000"/>
            </a:avLst>
          </a:prstGeom>
          <a:solidFill>
            <a:srgbClr val="C6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4"/>
          <p:cNvSpPr txBox="1"/>
          <p:nvPr/>
        </p:nvSpPr>
        <p:spPr>
          <a:xfrm>
            <a:off x="1536700" y="4292600"/>
            <a:ext cx="5334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500" b="1" spc="-100">
                <a:solidFill>
                  <a:srgbClr val="222B52"/>
                </a:solidFill>
                <a:latin typeface="TT Hoves Bold"/>
                <a:ea typeface="TT Hoves Bold"/>
                <a:cs typeface="TT Hoves Bold"/>
                <a:sym typeface="TT Hoves Bold"/>
              </a:rPr>
              <a:t>Learning Outcomes</a:t>
            </a:r>
          </a:p>
        </p:txBody>
      </p:sp>
      <p:sp>
        <p:nvSpPr>
          <p:cNvPr id="47" name="TextBox 39"/>
          <p:cNvSpPr txBox="1"/>
          <p:nvPr/>
        </p:nvSpPr>
        <p:spPr>
          <a:xfrm>
            <a:off x="1536700" y="4762500"/>
            <a:ext cx="63500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Hands-on practice in data cleaning, feature engineering, interactive </a:t>
            </a:r>
            <a:r>
              <a:rPr lang="en-US" sz="2000" spc="-40" dirty="0" err="1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visualisation</a:t>
            </a: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, time-series forecasting and building a web app.</a:t>
            </a:r>
          </a:p>
        </p:txBody>
      </p:sp>
      <p:sp>
        <p:nvSpPr>
          <p:cNvPr id="48" name="TextBox 44"/>
          <p:cNvSpPr txBox="1"/>
          <p:nvPr/>
        </p:nvSpPr>
        <p:spPr>
          <a:xfrm>
            <a:off x="10617200" y="4445000"/>
            <a:ext cx="6604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600" b="1" spc="-10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Takeaways</a:t>
            </a:r>
          </a:p>
        </p:txBody>
      </p:sp>
      <p:sp>
        <p:nvSpPr>
          <p:cNvPr id="49" name="TextBox 39"/>
          <p:cNvSpPr txBox="1"/>
          <p:nvPr/>
        </p:nvSpPr>
        <p:spPr>
          <a:xfrm>
            <a:off x="10617200" y="5003800"/>
            <a:ext cx="66040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Q4 seasonality is the biggest revenue driver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On-time delivery is closely tied to high ratings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Customer recency separates loyal from at-risk buyers</a:t>
            </a:r>
          </a:p>
        </p:txBody>
      </p:sp>
      <p:sp>
        <p:nvSpPr>
          <p:cNvPr id="50" name="TextBox 44"/>
          <p:cNvSpPr txBox="1"/>
          <p:nvPr/>
        </p:nvSpPr>
        <p:spPr>
          <a:xfrm>
            <a:off x="10617200" y="6350000"/>
            <a:ext cx="6604000" cy="30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2600" b="1" spc="-100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Next Steps</a:t>
            </a:r>
          </a:p>
        </p:txBody>
      </p:sp>
      <p:sp>
        <p:nvSpPr>
          <p:cNvPr id="51" name="TextBox 39"/>
          <p:cNvSpPr txBox="1"/>
          <p:nvPr/>
        </p:nvSpPr>
        <p:spPr>
          <a:xfrm>
            <a:off x="10617200" y="6908800"/>
            <a:ext cx="66040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Prophet / LSTM forecasting models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Automated weekly email reports for managers</a:t>
            </a:r>
          </a:p>
          <a:p>
            <a:pPr marL="177800" indent="-177800" algn="l">
              <a:spcAft>
                <a:spcPts val="600"/>
              </a:spcAft>
              <a:buFont typeface="Arial"/>
              <a:buChar char="•"/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Real-time data refresh on a schedule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 flipV="1">
            <a:off x="17788875" y="-613471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3"/>
          <p:cNvGrpSpPr/>
          <p:nvPr/>
        </p:nvGrpSpPr>
        <p:grpSpPr>
          <a:xfrm>
            <a:off x="15906391" y="9186939"/>
            <a:ext cx="5316075" cy="1969184"/>
            <a:chOff x="0" y="0"/>
            <a:chExt cx="1400119" cy="518633"/>
          </a:xfrm>
        </p:grpSpPr>
        <p:sp>
          <p:nvSpPr>
            <p:cNvPr id="5" name="Freeform 4"/>
            <p:cNvSpPr/>
            <p:nvPr/>
          </p:nvSpPr>
          <p:spPr>
            <a:xfrm>
              <a:off x="0" y="0"/>
              <a:ext cx="1400119" cy="518633"/>
            </a:xfrm>
            <a:custGeom>
              <a:avLst/>
              <a:gdLst/>
              <a:ahLst/>
              <a:cxnLst/>
              <a:rect l="l" t="t" r="r" b="b"/>
              <a:pathLst>
                <a:path w="1400119" h="518633">
                  <a:moveTo>
                    <a:pt x="145632" y="0"/>
                  </a:moveTo>
                  <a:lnTo>
                    <a:pt x="1254486" y="0"/>
                  </a:lnTo>
                  <a:cubicBezTo>
                    <a:pt x="1334917" y="0"/>
                    <a:pt x="1400119" y="65202"/>
                    <a:pt x="1400119" y="145632"/>
                  </a:cubicBezTo>
                  <a:lnTo>
                    <a:pt x="1400119" y="373000"/>
                  </a:lnTo>
                  <a:cubicBezTo>
                    <a:pt x="1400119" y="411625"/>
                    <a:pt x="1384775" y="448667"/>
                    <a:pt x="1357464" y="475978"/>
                  </a:cubicBezTo>
                  <a:cubicBezTo>
                    <a:pt x="1330153" y="503289"/>
                    <a:pt x="1293110" y="518633"/>
                    <a:pt x="1254486" y="518633"/>
                  </a:cubicBezTo>
                  <a:lnTo>
                    <a:pt x="145632" y="518633"/>
                  </a:lnTo>
                  <a:cubicBezTo>
                    <a:pt x="107008" y="518633"/>
                    <a:pt x="69966" y="503289"/>
                    <a:pt x="42655" y="475978"/>
                  </a:cubicBezTo>
                  <a:cubicBezTo>
                    <a:pt x="15343" y="448667"/>
                    <a:pt x="0" y="411625"/>
                    <a:pt x="0" y="373000"/>
                  </a:cubicBezTo>
                  <a:lnTo>
                    <a:pt x="0" y="145632"/>
                  </a:lnTo>
                  <a:cubicBezTo>
                    <a:pt x="0" y="107008"/>
                    <a:pt x="15343" y="69966"/>
                    <a:pt x="42655" y="42655"/>
                  </a:cubicBezTo>
                  <a:cubicBezTo>
                    <a:pt x="69966" y="15343"/>
                    <a:pt x="107008" y="0"/>
                    <a:pt x="145632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1400119" cy="556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6"/>
          <p:cNvSpPr/>
          <p:nvPr/>
        </p:nvSpPr>
        <p:spPr>
          <a:xfrm>
            <a:off x="5788436" y="1699485"/>
            <a:ext cx="6711128" cy="6207793"/>
          </a:xfrm>
          <a:custGeom>
            <a:avLst/>
            <a:gdLst/>
            <a:ahLst/>
            <a:cxnLst/>
            <a:rect l="l" t="t" r="r" b="b"/>
            <a:pathLst>
              <a:path w="6711128" h="6207793">
                <a:moveTo>
                  <a:pt x="0" y="0"/>
                </a:moveTo>
                <a:lnTo>
                  <a:pt x="6711128" y="0"/>
                </a:lnTo>
                <a:lnTo>
                  <a:pt x="6711128" y="6207793"/>
                </a:lnTo>
                <a:lnTo>
                  <a:pt x="0" y="6207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AutoShape 7"/>
          <p:cNvSpPr/>
          <p:nvPr/>
        </p:nvSpPr>
        <p:spPr>
          <a:xfrm flipV="1">
            <a:off x="10347177" y="-6913393"/>
            <a:ext cx="0" cy="20954906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6153912" y="9758439"/>
            <a:ext cx="17800010" cy="2065376"/>
            <a:chOff x="0" y="0"/>
            <a:chExt cx="4688069" cy="543967"/>
          </a:xfrm>
        </p:grpSpPr>
        <p:sp>
          <p:nvSpPr>
            <p:cNvPr id="10" name="Freeform 9"/>
            <p:cNvSpPr/>
            <p:nvPr/>
          </p:nvSpPr>
          <p:spPr>
            <a:xfrm>
              <a:off x="0" y="0"/>
              <a:ext cx="4688068" cy="543967"/>
            </a:xfrm>
            <a:custGeom>
              <a:avLst/>
              <a:gdLst/>
              <a:ahLst/>
              <a:cxnLst/>
              <a:rect l="l" t="t" r="r" b="b"/>
              <a:pathLst>
                <a:path w="4688068" h="543967">
                  <a:moveTo>
                    <a:pt x="43494" y="0"/>
                  </a:moveTo>
                  <a:lnTo>
                    <a:pt x="4644575" y="0"/>
                  </a:lnTo>
                  <a:cubicBezTo>
                    <a:pt x="4668596" y="0"/>
                    <a:pt x="4688068" y="19473"/>
                    <a:pt x="4688068" y="43494"/>
                  </a:cubicBezTo>
                  <a:lnTo>
                    <a:pt x="4688068" y="500473"/>
                  </a:lnTo>
                  <a:cubicBezTo>
                    <a:pt x="4688068" y="524494"/>
                    <a:pt x="4668596" y="543967"/>
                    <a:pt x="4644575" y="543967"/>
                  </a:cubicBezTo>
                  <a:lnTo>
                    <a:pt x="43494" y="543967"/>
                  </a:lnTo>
                  <a:cubicBezTo>
                    <a:pt x="19473" y="543967"/>
                    <a:pt x="0" y="524494"/>
                    <a:pt x="0" y="500473"/>
                  </a:cubicBezTo>
                  <a:lnTo>
                    <a:pt x="0" y="43494"/>
                  </a:lnTo>
                  <a:cubicBezTo>
                    <a:pt x="0" y="19473"/>
                    <a:pt x="19473" y="0"/>
                    <a:pt x="43494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0" y="-38100"/>
              <a:ext cx="4688069" cy="5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686950" y="551833"/>
            <a:ext cx="8914100" cy="580379"/>
            <a:chOff x="0" y="0"/>
            <a:chExt cx="2347746" cy="152857"/>
          </a:xfrm>
        </p:grpSpPr>
        <p:sp>
          <p:nvSpPr>
            <p:cNvPr id="13" name="Freeform 12"/>
            <p:cNvSpPr/>
            <p:nvPr/>
          </p:nvSpPr>
          <p:spPr>
            <a:xfrm>
              <a:off x="0" y="0"/>
              <a:ext cx="2347746" cy="152857"/>
            </a:xfrm>
            <a:custGeom>
              <a:avLst/>
              <a:gdLst/>
              <a:ahLst/>
              <a:cxnLst/>
              <a:rect l="l" t="t" r="r" b="b"/>
              <a:pathLst>
                <a:path w="2347746" h="152857">
                  <a:moveTo>
                    <a:pt x="76429" y="0"/>
                  </a:moveTo>
                  <a:lnTo>
                    <a:pt x="2271318" y="0"/>
                  </a:lnTo>
                  <a:cubicBezTo>
                    <a:pt x="2291588" y="0"/>
                    <a:pt x="2311028" y="8052"/>
                    <a:pt x="2325361" y="22385"/>
                  </a:cubicBezTo>
                  <a:cubicBezTo>
                    <a:pt x="2339694" y="36719"/>
                    <a:pt x="2347746" y="56158"/>
                    <a:pt x="2347746" y="76429"/>
                  </a:cubicBezTo>
                  <a:lnTo>
                    <a:pt x="2347746" y="76429"/>
                  </a:lnTo>
                  <a:cubicBezTo>
                    <a:pt x="2347746" y="96699"/>
                    <a:pt x="2339694" y="116139"/>
                    <a:pt x="2325361" y="130472"/>
                  </a:cubicBezTo>
                  <a:cubicBezTo>
                    <a:pt x="2311028" y="144805"/>
                    <a:pt x="2291588" y="152857"/>
                    <a:pt x="2271318" y="152857"/>
                  </a:cubicBezTo>
                  <a:lnTo>
                    <a:pt x="76429" y="152857"/>
                  </a:lnTo>
                  <a:cubicBezTo>
                    <a:pt x="56158" y="152857"/>
                    <a:pt x="36719" y="144805"/>
                    <a:pt x="22385" y="130472"/>
                  </a:cubicBezTo>
                  <a:cubicBezTo>
                    <a:pt x="8052" y="116139"/>
                    <a:pt x="0" y="96699"/>
                    <a:pt x="0" y="76429"/>
                  </a:cubicBezTo>
                  <a:lnTo>
                    <a:pt x="0" y="76429"/>
                  </a:lnTo>
                  <a:cubicBezTo>
                    <a:pt x="0" y="56158"/>
                    <a:pt x="8052" y="36719"/>
                    <a:pt x="22385" y="22385"/>
                  </a:cubicBezTo>
                  <a:cubicBezTo>
                    <a:pt x="36719" y="8052"/>
                    <a:pt x="56158" y="0"/>
                    <a:pt x="7642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0" y="-38100"/>
              <a:ext cx="2347746" cy="190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AutoShape 14"/>
          <p:cNvSpPr/>
          <p:nvPr/>
        </p:nvSpPr>
        <p:spPr>
          <a:xfrm>
            <a:off x="-1618300" y="1699485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5"/>
          <p:cNvSpPr/>
          <p:nvPr/>
        </p:nvSpPr>
        <p:spPr>
          <a:xfrm>
            <a:off x="-1618300" y="8111239"/>
            <a:ext cx="20954906" cy="0"/>
          </a:xfrm>
          <a:prstGeom prst="line">
            <a:avLst/>
          </a:prstGeom>
          <a:ln w="19050" cap="flat">
            <a:solidFill>
              <a:srgbClr val="7F858D">
                <a:alpha val="4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9" name="Group 18"/>
          <p:cNvGrpSpPr/>
          <p:nvPr/>
        </p:nvGrpSpPr>
        <p:grpSpPr>
          <a:xfrm>
            <a:off x="12128435" y="7757364"/>
            <a:ext cx="4002069" cy="591470"/>
            <a:chOff x="0" y="0"/>
            <a:chExt cx="1054043" cy="155778"/>
          </a:xfrm>
        </p:grpSpPr>
        <p:sp>
          <p:nvSpPr>
            <p:cNvPr id="20" name="Freeform 19"/>
            <p:cNvSpPr/>
            <p:nvPr/>
          </p:nvSpPr>
          <p:spPr>
            <a:xfrm>
              <a:off x="0" y="0"/>
              <a:ext cx="1054043" cy="155778"/>
            </a:xfrm>
            <a:custGeom>
              <a:avLst/>
              <a:gdLst/>
              <a:ahLst/>
              <a:cxnLst/>
              <a:rect l="l" t="t" r="r" b="b"/>
              <a:pathLst>
                <a:path w="1054043" h="155778">
                  <a:moveTo>
                    <a:pt x="77889" y="0"/>
                  </a:moveTo>
                  <a:lnTo>
                    <a:pt x="976154" y="0"/>
                  </a:lnTo>
                  <a:cubicBezTo>
                    <a:pt x="996811" y="0"/>
                    <a:pt x="1016623" y="8206"/>
                    <a:pt x="1031230" y="22813"/>
                  </a:cubicBezTo>
                  <a:cubicBezTo>
                    <a:pt x="1045837" y="37420"/>
                    <a:pt x="1054043" y="57232"/>
                    <a:pt x="1054043" y="77889"/>
                  </a:cubicBezTo>
                  <a:lnTo>
                    <a:pt x="1054043" y="77889"/>
                  </a:lnTo>
                  <a:cubicBezTo>
                    <a:pt x="1054043" y="98546"/>
                    <a:pt x="1045837" y="118358"/>
                    <a:pt x="1031230" y="132965"/>
                  </a:cubicBezTo>
                  <a:cubicBezTo>
                    <a:pt x="1016623" y="147572"/>
                    <a:pt x="996811" y="155778"/>
                    <a:pt x="976154" y="155778"/>
                  </a:cubicBezTo>
                  <a:lnTo>
                    <a:pt x="77889" y="155778"/>
                  </a:lnTo>
                  <a:cubicBezTo>
                    <a:pt x="57232" y="155778"/>
                    <a:pt x="37420" y="147572"/>
                    <a:pt x="22813" y="132965"/>
                  </a:cubicBezTo>
                  <a:cubicBezTo>
                    <a:pt x="8206" y="118358"/>
                    <a:pt x="0" y="98546"/>
                    <a:pt x="0" y="77889"/>
                  </a:cubicBezTo>
                  <a:lnTo>
                    <a:pt x="0" y="77889"/>
                  </a:lnTo>
                  <a:cubicBezTo>
                    <a:pt x="0" y="57232"/>
                    <a:pt x="8206" y="37420"/>
                    <a:pt x="22813" y="22813"/>
                  </a:cubicBezTo>
                  <a:cubicBezTo>
                    <a:pt x="37420" y="8206"/>
                    <a:pt x="57232" y="0"/>
                    <a:pt x="778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5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0" y="-38100"/>
              <a:ext cx="1054043" cy="193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4667407" y="7757364"/>
            <a:ext cx="1463097" cy="591470"/>
            <a:chOff x="0" y="0"/>
            <a:chExt cx="385342" cy="155778"/>
          </a:xfrm>
        </p:grpSpPr>
        <p:sp>
          <p:nvSpPr>
            <p:cNvPr id="23" name="Freeform 22"/>
            <p:cNvSpPr/>
            <p:nvPr/>
          </p:nvSpPr>
          <p:spPr>
            <a:xfrm>
              <a:off x="0" y="0"/>
              <a:ext cx="385342" cy="155778"/>
            </a:xfrm>
            <a:custGeom>
              <a:avLst/>
              <a:gdLst/>
              <a:ahLst/>
              <a:cxnLst/>
              <a:rect l="l" t="t" r="r" b="b"/>
              <a:pathLst>
                <a:path w="385342" h="155778">
                  <a:moveTo>
                    <a:pt x="77889" y="0"/>
                  </a:moveTo>
                  <a:lnTo>
                    <a:pt x="307453" y="0"/>
                  </a:lnTo>
                  <a:cubicBezTo>
                    <a:pt x="328111" y="0"/>
                    <a:pt x="347922" y="8206"/>
                    <a:pt x="362529" y="22813"/>
                  </a:cubicBezTo>
                  <a:cubicBezTo>
                    <a:pt x="377136" y="37420"/>
                    <a:pt x="385342" y="57232"/>
                    <a:pt x="385342" y="77889"/>
                  </a:cubicBezTo>
                  <a:lnTo>
                    <a:pt x="385342" y="77889"/>
                  </a:lnTo>
                  <a:cubicBezTo>
                    <a:pt x="385342" y="98546"/>
                    <a:pt x="377136" y="118358"/>
                    <a:pt x="362529" y="132965"/>
                  </a:cubicBezTo>
                  <a:cubicBezTo>
                    <a:pt x="347922" y="147572"/>
                    <a:pt x="328111" y="155778"/>
                    <a:pt x="307453" y="155778"/>
                  </a:cubicBezTo>
                  <a:lnTo>
                    <a:pt x="77889" y="155778"/>
                  </a:lnTo>
                  <a:cubicBezTo>
                    <a:pt x="57232" y="155778"/>
                    <a:pt x="37420" y="147572"/>
                    <a:pt x="22813" y="132965"/>
                  </a:cubicBezTo>
                  <a:cubicBezTo>
                    <a:pt x="8206" y="118358"/>
                    <a:pt x="0" y="98546"/>
                    <a:pt x="0" y="77889"/>
                  </a:cubicBezTo>
                  <a:lnTo>
                    <a:pt x="0" y="77889"/>
                  </a:lnTo>
                  <a:cubicBezTo>
                    <a:pt x="0" y="57232"/>
                    <a:pt x="8206" y="37420"/>
                    <a:pt x="22813" y="22813"/>
                  </a:cubicBezTo>
                  <a:cubicBezTo>
                    <a:pt x="37420" y="8206"/>
                    <a:pt x="57232" y="0"/>
                    <a:pt x="77889" y="0"/>
                  </a:cubicBezTo>
                  <a:close/>
                </a:path>
              </a:pathLst>
            </a:custGeom>
            <a:solidFill>
              <a:srgbClr val="222B5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0" y="-38100"/>
              <a:ext cx="385342" cy="193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AutoShape 24"/>
          <p:cNvSpPr/>
          <p:nvPr/>
        </p:nvSpPr>
        <p:spPr>
          <a:xfrm>
            <a:off x="15167628" y="8053099"/>
            <a:ext cx="573192" cy="0"/>
          </a:xfrm>
          <a:prstGeom prst="line">
            <a:avLst/>
          </a:prstGeom>
          <a:ln w="5715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1215" y="2398357"/>
            <a:ext cx="10369376" cy="244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75"/>
              </a:lnSpc>
            </a:pPr>
            <a:r>
              <a:rPr lang="en-US" sz="19861" spc="-794">
                <a:solidFill>
                  <a:srgbClr val="222223"/>
                </a:solidFill>
                <a:latin typeface="TT Hoves"/>
                <a:ea typeface="TT Hoves"/>
                <a:cs typeface="TT Hoves"/>
                <a:sym typeface="TT Hoves"/>
              </a:rPr>
              <a:t>Thank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1215" y="4447255"/>
            <a:ext cx="10369376" cy="2442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75"/>
              </a:lnSpc>
            </a:pPr>
            <a:r>
              <a:rPr lang="en-US" sz="19861" b="1" spc="-794">
                <a:solidFill>
                  <a:srgbClr val="222223"/>
                </a:solidFill>
                <a:latin typeface="TT Hoves Bold"/>
                <a:ea typeface="TT Hoves Bold"/>
                <a:cs typeface="TT Hoves Bold"/>
                <a:sym typeface="TT Hoves Bold"/>
              </a:rPr>
              <a:t>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0722" y="627075"/>
            <a:ext cx="25629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spc="-123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DAV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8411" y="686844"/>
            <a:ext cx="155802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686844"/>
            <a:ext cx="176039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34940" y="697385"/>
            <a:ext cx="2665375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i="1" spc="-129" dirty="0">
                <a:solidFill>
                  <a:srgbClr val="22222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30 OCT,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48130" y="7907747"/>
            <a:ext cx="2105840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1" i="1" spc="-129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Q &amp;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0977" y="9277350"/>
            <a:ext cx="9144000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900" b="1" spc="-129">
                <a:solidFill>
                  <a:srgbClr val="222B52"/>
                </a:solidFill>
                <a:latin typeface="DM Sans Bold"/>
                <a:ea typeface="DM Sans Bold"/>
                <a:cs typeface="DM Sans Bold"/>
                <a:sym typeface="DM Sans Bold"/>
              </a:rPr>
              <a:t>Soham Admane  |  Vaishnav Balpande  |  Lokesh Parate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96158" y="697385"/>
            <a:ext cx="692641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b="1" spc="-129">
                <a:solidFill>
                  <a:srgbClr val="222223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0977" y="6978839"/>
            <a:ext cx="6841424" cy="56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2000" spc="-40" dirty="0">
                <a:solidFill>
                  <a:srgbClr val="403D39"/>
                </a:solidFill>
                <a:latin typeface="DM Sans"/>
                <a:ea typeface="DM Sans"/>
                <a:cs typeface="DM Sans"/>
                <a:sym typeface="DM Sans"/>
              </a:rPr>
              <a:t>Questions and discussion are welcome.  E-Commerce Sales &amp; Customer Behavior Analytics, DAV Lab Mini-Project.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8481" y="686844"/>
            <a:ext cx="210644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6646" y="686844"/>
            <a:ext cx="174394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01369" y="686130"/>
            <a:ext cx="22996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spc="-89">
                <a:solidFill>
                  <a:srgbClr val="F8F7F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39" name="Freeform 38"/>
          <p:cNvSpPr/>
          <p:nvPr/>
        </p:nvSpPr>
        <p:spPr>
          <a:xfrm>
            <a:off x="1028700" y="611519"/>
            <a:ext cx="390599" cy="461008"/>
          </a:xfrm>
          <a:custGeom>
            <a:avLst/>
            <a:gdLst/>
            <a:ahLst/>
            <a:cxnLst/>
            <a:rect l="l" t="t" r="r" b="b"/>
            <a:pathLst>
              <a:path w="390599" h="461008">
                <a:moveTo>
                  <a:pt x="0" y="0"/>
                </a:moveTo>
                <a:lnTo>
                  <a:pt x="390599" y="0"/>
                </a:lnTo>
                <a:lnTo>
                  <a:pt x="390599" y="461008"/>
                </a:lnTo>
                <a:lnTo>
                  <a:pt x="0" y="461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1975</Words>
  <Application>Microsoft Office PowerPoint</Application>
  <PresentationFormat>Custom</PresentationFormat>
  <Paragraphs>315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TT Hoves Bold</vt:lpstr>
      <vt:lpstr>DM Sans</vt:lpstr>
      <vt:lpstr>DM Sans Bold</vt:lpstr>
      <vt:lpstr>TT Hoves</vt:lpstr>
      <vt:lpstr>DM Sans Bold Italics</vt:lpstr>
      <vt:lpstr>DM Sans Italics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UCFC_8_Slides.pptx</dc:title>
  <cp:lastModifiedBy>VNAV-PC</cp:lastModifiedBy>
  <cp:revision>4</cp:revision>
  <dcterms:created xsi:type="dcterms:W3CDTF">2006-08-16T00:00:00Z</dcterms:created>
  <dcterms:modified xsi:type="dcterms:W3CDTF">2026-10-30T06:43:21Z</dcterms:modified>
  <dc:identifier>DAHV2sg1t30</dc:identifier>
</cp:coreProperties>
</file>